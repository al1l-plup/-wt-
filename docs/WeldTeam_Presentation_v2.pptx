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E6EDF3"/>
                </a:solidFill>
              </a:rPr>
              <a:t>Weld</a:t>
            </a:r>
            <a:r>
              <a:rPr sz="5600" b="1">
                <a:solidFill>
                  <a:srgbClr val="58A6FF"/>
                </a:solidFill>
              </a:rPr>
              <a:t>Team</a:t>
            </a:r>
            <a:r>
              <a:rPr sz="4400" b="0">
                <a:solidFill>
                  <a:srgbClr val="8B949E"/>
                </a:solidFill>
              </a:rPr>
              <a:t>  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8B949E"/>
                </a:solidFill>
              </a:rPr>
              <a:t>Система управления сварочным производством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3520440"/>
            <a:ext cx="5239512" cy="411480"/>
          </a:xfrm>
          <a:prstGeom prst="rect">
            <a:avLst/>
          </a:prstGeom>
          <a:solidFill>
            <a:srgbClr val="0D1E10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3538728"/>
            <a:ext cx="5239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B950"/>
                </a:solidFill>
              </a:rPr>
              <a:t>● Система работает  ·  Данные внесены  ·  Фундамент заложен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160520"/>
            <a:ext cx="210312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178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FB950"/>
                </a:solidFill>
              </a:rPr>
              <a:t>ДЛЯ ОТДЕЛА ИТО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160520"/>
            <a:ext cx="210312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4178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8A6FF"/>
                </a:solidFill>
              </a:rPr>
              <a:t>ДЛЯ ОТДЕЛА ОТК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4160520"/>
            <a:ext cx="210312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4178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C8CFF"/>
                </a:solidFill>
              </a:rPr>
              <a:t>ЦЕХ BS · GWM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3FB950"/>
                </a:solidFill>
              </a:rPr>
              <a:t>ФУНДАМЕНТ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Что уже реализовано и работает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201168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8A6FF"/>
                </a:solidFill>
              </a:rPr>
              <a:t>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Сварочных
пистолетов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508760"/>
            <a:ext cx="201168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BC8CFF"/>
                </a:solidFill>
              </a:rPr>
              <a:t>16 680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Сварочных
точек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508760"/>
            <a:ext cx="201168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3B341"/>
                </a:solidFill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Моделей
авто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508760"/>
            <a:ext cx="201168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FB950"/>
                </a:solidFill>
              </a:rPr>
              <a:t>2 606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Записей
плана ТО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508760"/>
            <a:ext cx="201168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85149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Произв.
линии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71800"/>
            <a:ext cx="11274552" cy="914400"/>
          </a:xfrm>
          <a:prstGeom prst="rect">
            <a:avLst/>
          </a:prstGeom>
          <a:solidFill>
            <a:srgbClr val="0E1828"/>
          </a:solidFill>
          <a:ln w="9525">
            <a:solidFill>
              <a:srgbClr val="1D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971800"/>
            <a:ext cx="64008" cy="914400"/>
          </a:xfrm>
          <a:prstGeom prst="rect">
            <a:avLst/>
          </a:prstGeom>
          <a:solidFill>
            <a:srgbClr val="58A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06324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Вся структура цеха занесена в базу данных: бренды → станции → пистолеты → точки сварки → уставки техпроцесса. Это фундаментальная работа, которая позволяет строить любой аналитический и операционный функционал.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Иерархия данных: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34840"/>
            <a:ext cx="1737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8A6FF"/>
                </a:solidFill>
              </a:rPr>
              <a:t>Бренд (линия)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4805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50592" y="4434840"/>
            <a:ext cx="1737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50592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9E"/>
                </a:solidFill>
              </a:rPr>
              <a:t>Станция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87952" y="44805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43984" y="4434840"/>
            <a:ext cx="1737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43984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8A6FF"/>
                </a:solidFill>
              </a:rPr>
              <a:t>Пистолет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44805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37376" y="4434840"/>
            <a:ext cx="1737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9E"/>
                </a:solidFill>
              </a:rPr>
              <a:t>Точки сварки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44805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30768" y="4434840"/>
            <a:ext cx="1737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0768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8A6FF"/>
                </a:solidFill>
              </a:rPr>
              <a:t>Уставки техпроцесса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8128" y="44805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24160" y="4434840"/>
            <a:ext cx="1737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24160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9E"/>
                </a:solidFill>
              </a:rPr>
              <a:t>История изменений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58A6FF"/>
                </a:solidFill>
              </a:rPr>
              <a:t>ТЕХНОЛОГИЯ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Как работает система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5661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2763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751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Веб-приложение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295144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Открывается в любом браузере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54203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Не требует установки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788920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Работает на ПК, телефоне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03580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и планшете в сети цеха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7" y="1463040"/>
            <a:ext cx="35661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162763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🗄️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19751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База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295144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Централизованное хранение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54203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Актуальные данные 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2788920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реальном времени для всех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303580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сотрудников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66174" y="1463040"/>
            <a:ext cx="35661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6" y="162763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6" y="19751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Мобильная версия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6" y="2295144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Страницы адаптированы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6" y="254203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под телефон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6" y="2788920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Регистрация ТО и дефектов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6" y="303580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прямо у станка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49040"/>
            <a:ext cx="35661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91363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2611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Аудит изменений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4581144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Каждое изменение уставок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482803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записывается с датой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074920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и комментарием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532180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История не удаляется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61687" y="3749040"/>
            <a:ext cx="35661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79" y="391363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79" y="42611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Валидация данных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79" y="4581144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Проверка замеров ТО: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79" y="482803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допуск ±100 А по току,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79" y="5074920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±50 daN по давлению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79" y="532180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Выход — предупреждение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66174" y="3749040"/>
            <a:ext cx="35661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0766" y="391363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0766" y="42611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Тёмная тема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6" y="4581144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Комфортная работа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0766" y="482803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в любых условиях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0766" y="5074920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освещения цеха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0766" y="532180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Сохраняется между сессиями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1371600"/>
            <a:ext cx="5788152" cy="4114800"/>
          </a:xfrm>
          <a:prstGeom prst="rect">
            <a:avLst/>
          </a:prstGeom>
          <a:solidFill>
            <a:srgbClr val="0D15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22876" y="1097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E6EDF3"/>
                </a:solidFill>
              </a:rPr>
              <a:t>🔧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1476" y="214884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3FB950"/>
                </a:solidFill>
              </a:rPr>
              <a:t>ОТДЕЛ ИТО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6EDF3"/>
                </a:solidFill>
              </a:rPr>
              <a:t>Техническое обслуживание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1188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B949E"/>
                </a:solidFill>
              </a:rPr>
              <a:t>Планирование, выполнение и контроль ТО сварочных пистолетов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3FB950"/>
                </a:solidFill>
              </a:rPr>
              <a:t>ИТО · ПЛАНИРОВАНИЕ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Ежедневный план 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Годовой план ТО загружен — 2 606 записей по всем брендам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Назначить пистолеты на ТО одним кликом — с фильтром по бренду и дате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9397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93976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В задаче видно: номер и тип пистолета, бренд, станция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86584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86584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Взять задачу в работу прямо с экрана телефона у станка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2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Записать ТО из задачи — задача автоматически закрывается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71800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Прогресс выполнения плана по брендам с % готовности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417320"/>
            <a:ext cx="4114800" cy="4572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5544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ПОТОК РАБОТЫ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920240"/>
            <a:ext cx="3749039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938528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949E"/>
                </a:solidFill>
              </a:rPr>
              <a:t>📋 Назначить пистолеты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3042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2578608"/>
            <a:ext cx="3749039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2596896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</a:rPr>
              <a:t>🔧 Взять в работу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9626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3236976"/>
            <a:ext cx="3749039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3255264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3B341"/>
                </a:solidFill>
              </a:rPr>
              <a:t>📏 Снять замеры (3×ток, 3×давл.)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6210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895344"/>
            <a:ext cx="3749039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913632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FB950"/>
                </a:solidFill>
              </a:rPr>
              <a:t>✅ ТО зафиксировано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E3B341"/>
                </a:solidFill>
              </a:rPr>
              <a:t>ИТО · УСТАВКИ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Управление параметрами сварки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Уставки хранятся в БД для каждого пистолета и каждой точки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Все параметры: давление (daN), к.трансформации, ток 1/2, времена циклограммы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9397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93976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Изменение уставок — с обязательным комментарием «зачем меняем»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86584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86584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Полный архив: когда, какие параметры, какой комментарий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2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Старые уставки не удаляются — сохраняется полная история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7180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Привязка замеров ТО к конкретной уставке (факт/план)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417320"/>
            <a:ext cx="4114800" cy="3657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5544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📊  Что видно в архиве уставок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196596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2" y="1965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Дата введения уставки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25856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2258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Режим сварки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551176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25511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Давление, К.Трансформации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843784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8437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Ток 1 и Ток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3136392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31363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Комментарий к изменению ← новое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42900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2" y="3429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Активна / в архиве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1371600"/>
            <a:ext cx="5788152" cy="4114800"/>
          </a:xfrm>
          <a:prstGeom prst="rect">
            <a:avLst/>
          </a:prstGeom>
          <a:solidFill>
            <a:srgbClr val="0D15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22876" y="1097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E6EDF3"/>
                </a:solidFill>
              </a:rPr>
              <a:t>🔍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1476" y="214884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58A6FF"/>
                </a:solidFill>
              </a:rPr>
              <a:t>ОТДЕЛ ОТК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6EDF3"/>
                </a:solidFill>
              </a:rPr>
              <a:t>Управление дефектами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1188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B949E"/>
                </a:solidFill>
              </a:rPr>
              <a:t>Регистрация, расследование и закрытие дефектов сварки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58A6FF"/>
                </a:solidFill>
              </a:rPr>
              <a:t>ОТК · ДЕФЕКТЫ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Регистрация и закрытие дефектов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16 кодов дефектов из техпроцесса (CR, SN, LP, BN, SW и др.)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Регистрация: модель авто → номер точки → код дефекта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9397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93976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В карточке видно: тип пистолета, бренд, станция — сразу найти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86584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86584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Workflow: Зарегистрирован → Закрыть (без лишних шагов)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2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При закрытии: первопричина + контрмера + ответственный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7180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История закрытых дефектов с поиском по периоду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417320"/>
            <a:ext cx="4114800" cy="3931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5544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16 КОДОВ ДЕФЕКТОВ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920240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920240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CR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22208" y="1920240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1920240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SN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72016" y="1920240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2016" y="1920240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LP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21824" y="1920240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21824" y="1920240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BN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71632" y="1920240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71632" y="1920240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SW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304288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304288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BT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22208" y="2304288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22208" y="2304288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72016" y="2304288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72016" y="2304288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1824" y="2304288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1824" y="2304288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IE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71632" y="2304288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71632" y="2304288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MN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2688336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2688336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22208" y="2688336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22208" y="2688336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EO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72016" y="2688336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72016" y="2688336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BE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21824" y="2688336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21824" y="2688336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71632" y="2688336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71632" y="2688336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MI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3072384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3072384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EMU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45262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B949E"/>
                </a:solidFill>
              </a:rPr>
              <a:t>Словарь кодов хранится в БД и может пополняться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58A6FF"/>
                </a:solidFill>
              </a:rPr>
              <a:t>ОТК · АНАЛИТИКА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Аналитика дефектов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Фильтры: этот месяц / 3 мес / 6 мес / год / свой период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Фильтр по модели автомобиля и конкретной станции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9397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93976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Диаграмма: наглядно видно какие коды доминируют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86584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86584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Таблица разбивки по станциям — где больше проблем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2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Самый частый код дефекта за период — на главном экране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94760"/>
            <a:ext cx="6675120" cy="822960"/>
          </a:xfrm>
          <a:prstGeom prst="rect">
            <a:avLst/>
          </a:prstGeom>
          <a:solidFill>
            <a:srgbClr val="0E1828"/>
          </a:solidFill>
          <a:ln w="9525">
            <a:solidFill>
              <a:srgbClr val="1D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64008" cy="822960"/>
          </a:xfrm>
          <a:prstGeom prst="rect">
            <a:avLst/>
          </a:prstGeom>
          <a:solidFill>
            <a:srgbClr val="58A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86200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Аналитика отвечает на вопрос: где и что чаще всего ломается?
Позволяет принимать системные решения, а не тушить пожары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417320"/>
            <a:ext cx="4114800" cy="4114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15544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РАСПРЕДЕЛЕНИЕ ДЕФЕКТОВ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965960"/>
            <a:ext cx="3749039" cy="292608"/>
          </a:xfrm>
          <a:prstGeom prst="rect">
            <a:avLst/>
          </a:prstGeom>
          <a:solidFill>
            <a:srgbClr val="20283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1965960"/>
            <a:ext cx="1312163" cy="292608"/>
          </a:xfrm>
          <a:prstGeom prst="rect">
            <a:avLst/>
          </a:prstGeom>
          <a:solidFill>
            <a:srgbClr val="F8514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198424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</a:rPr>
              <a:t>CR — Трещина  35%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468880"/>
            <a:ext cx="3749039" cy="292608"/>
          </a:xfrm>
          <a:prstGeom prst="rect">
            <a:avLst/>
          </a:prstGeom>
          <a:solidFill>
            <a:srgbClr val="20283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0" y="2468880"/>
            <a:ext cx="749807" cy="292608"/>
          </a:xfrm>
          <a:prstGeom prst="rect">
            <a:avLst/>
          </a:prstGeom>
          <a:solidFill>
            <a:srgbClr val="E3B34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248716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</a:rPr>
              <a:t>SN — Малое ядро 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2971800"/>
            <a:ext cx="3749039" cy="292608"/>
          </a:xfrm>
          <a:prstGeom prst="rect">
            <a:avLst/>
          </a:prstGeom>
          <a:solidFill>
            <a:srgbClr val="20283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2971800"/>
            <a:ext cx="637336" cy="292608"/>
          </a:xfrm>
          <a:prstGeom prst="rect">
            <a:avLst/>
          </a:prstGeom>
          <a:solidFill>
            <a:srgbClr val="58A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99008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</a:rPr>
              <a:t>LP — Непровар  17%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474720"/>
            <a:ext cx="3749039" cy="292608"/>
          </a:xfrm>
          <a:prstGeom prst="rect">
            <a:avLst/>
          </a:prstGeom>
          <a:solidFill>
            <a:srgbClr val="20283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0" y="3474720"/>
            <a:ext cx="487375" cy="292608"/>
          </a:xfrm>
          <a:prstGeom prst="rect">
            <a:avLst/>
          </a:prstGeom>
          <a:solidFill>
            <a:srgbClr val="3FB9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349300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</a:rPr>
              <a:t>BN — Прожог  13%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977640"/>
            <a:ext cx="3749039" cy="292608"/>
          </a:xfrm>
          <a:prstGeom prst="rect">
            <a:avLst/>
          </a:prstGeom>
          <a:solidFill>
            <a:srgbClr val="20283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3977640"/>
            <a:ext cx="562355" cy="292608"/>
          </a:xfrm>
          <a:prstGeom prst="rect">
            <a:avLst/>
          </a:prstGeom>
          <a:solidFill>
            <a:srgbClr val="BC8C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399592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</a:rPr>
              <a:t>прочие коды...  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BC8CFF"/>
                </a:solidFill>
              </a:rPr>
              <a:t>ИТО + ОТК · ОБЗОР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Полный паспорт любого объекта цеха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657600" cy="384048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27632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75104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По пистолету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295144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Паспорт: номер, тип, бренд, станция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542032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Активные уставки по каждой точке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78892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Архив уставок с комментариями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03580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История всех ТО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282696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Список точек которые он варит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529584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Все дефекты пистолета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463040"/>
            <a:ext cx="3657600" cy="3840480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627632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75104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</a:rPr>
              <a:t>По станции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295144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Все пистолеты с нумерацией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542032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Производимые модели и кол-во точек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78892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Сводка дефектов по кодам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03580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Последние ТО на станции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1463040"/>
            <a:ext cx="3657600" cy="384048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512" y="1627632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2" y="1975104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По точке сварки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2295144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Активный пистолет и уставка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8512" y="2542032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История: когда какой пистолет варил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12" y="278892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Все дефекты на этой точке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512" y="303580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Последние ТО пистолета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440680"/>
            <a:ext cx="11274552" cy="777240"/>
          </a:xfrm>
          <a:prstGeom prst="rect">
            <a:avLst/>
          </a:prstGeom>
          <a:solidFill>
            <a:srgbClr val="0E1828"/>
          </a:solidFill>
          <a:ln w="9525">
            <a:solidFill>
              <a:srgbClr val="1D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440680"/>
            <a:ext cx="64008" cy="777240"/>
          </a:xfrm>
          <a:prstGeom prst="rect">
            <a:avLst/>
          </a:prstGeom>
          <a:solidFill>
            <a:srgbClr val="58A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5321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Ключевое преимущество: любой инженер за 10 секунд получает полную картину по любому элементу цеха — не нужно искать в Excel, звонить коллегам или поднимать бумажные журналы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1371600"/>
            <a:ext cx="5788152" cy="4114800"/>
          </a:xfrm>
          <a:prstGeom prst="rect">
            <a:avLst/>
          </a:prstGeom>
          <a:solidFill>
            <a:srgbClr val="0D15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22876" y="1097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E6EDF3"/>
                </a:solidFill>
              </a:rPr>
              <a:t>🚀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1476" y="214884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BC8CFF"/>
                </a:solidFill>
              </a:rPr>
              <a:t>ДАЛЬНЕЙШЕЕ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6EDF3"/>
                </a:solidFill>
              </a:rPr>
              <a:t>Что планируется дальше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1188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B949E"/>
                </a:solidFill>
              </a:rPr>
              <a:t>Фундамент заложен — теперь надстраиваем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E3B341"/>
                </a:solidFill>
              </a:rPr>
              <a:t>ИТО · СЛЕДУЮЩИЙ БОЛЬШОЙ ШАГ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6EDF3"/>
                </a:solidFill>
              </a:rPr>
              <a:t>Weld Balance → А-лист: один источник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5149"/>
                </a:solidFill>
              </a:rPr>
              <a:t>КАК СЕЙЧАС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19072"/>
            <a:ext cx="5394960" cy="27432"/>
          </a:xfrm>
          <a:prstGeom prst="rect">
            <a:avLst/>
          </a:prstGeom>
          <a:solidFill>
            <a:srgbClr val="F8514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173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</a:rPr>
              <a:t>КАК БУДЕТ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719072"/>
            <a:ext cx="5394960" cy="27432"/>
          </a:xfrm>
          <a:prstGeom prst="rect">
            <a:avLst/>
          </a:prstGeom>
          <a:solidFill>
            <a:srgbClr val="3FB9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89320" y="1371600"/>
            <a:ext cx="36576" cy="4846320"/>
          </a:xfrm>
          <a:prstGeom prst="rect">
            <a:avLst/>
          </a:prstGeom>
          <a:solidFill>
            <a:srgbClr val="30363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5394960" cy="347472"/>
          </a:xfrm>
          <a:prstGeom prst="rect">
            <a:avLst/>
          </a:prstGeom>
          <a:solidFill>
            <a:srgbClr val="1E0D0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202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5149"/>
                </a:solidFill>
              </a:rPr>
              <a:t>Weld Balance заполняется в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19"/>
            <a:ext cx="5394960" cy="347472"/>
          </a:xfrm>
          <a:prstGeom prst="rect">
            <a:avLst/>
          </a:prstGeom>
          <a:solidFill>
            <a:srgbClr val="1E0D0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774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5149"/>
                </a:solidFill>
              </a:rPr>
              <a:t>А-лист заполняется ОТДЕЛЬНО — та же работа дважды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889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✏️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88919"/>
            <a:ext cx="5394960" cy="347472"/>
          </a:xfrm>
          <a:prstGeom prst="rect">
            <a:avLst/>
          </a:prstGeom>
          <a:solidFill>
            <a:srgbClr val="1E0D0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8346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5149"/>
                </a:solidFill>
              </a:rPr>
              <a:t>Изменение WB → нужно вручную обновить А-лист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461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46119"/>
            <a:ext cx="5394960" cy="347472"/>
          </a:xfrm>
          <a:prstGeom prst="rect">
            <a:avLst/>
          </a:prstGeom>
          <a:solidFill>
            <a:srgbClr val="1E0D0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2918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5149"/>
                </a:solidFill>
              </a:rPr>
              <a:t>На станциях могут лежать устаревшие А-листы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033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19"/>
            <a:ext cx="5394960" cy="347472"/>
          </a:xfrm>
          <a:prstGeom prst="rect">
            <a:avLst/>
          </a:prstGeom>
          <a:solidFill>
            <a:srgbClr val="1E0D0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7490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5149"/>
                </a:solidFill>
              </a:rPr>
              <a:t>ОТК и производство не знают об изменениях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874519"/>
            <a:ext cx="5394960" cy="347472"/>
          </a:xfrm>
          <a:prstGeom prst="rect">
            <a:avLst/>
          </a:prstGeom>
          <a:solidFill>
            <a:srgbClr val="0D1E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8745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🗄️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9202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</a:rPr>
              <a:t>Weld Balance ведётся в WeldTeam — один раз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331719"/>
            <a:ext cx="5394960" cy="347472"/>
          </a:xfrm>
          <a:prstGeom prst="rect">
            <a:avLst/>
          </a:prstGeom>
          <a:solidFill>
            <a:srgbClr val="0D1E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3317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3774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</a:rPr>
              <a:t>А-лист генерируется АВТОМАТИЧЕСКИ из БД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788919"/>
            <a:ext cx="5394960" cy="347472"/>
          </a:xfrm>
          <a:prstGeom prst="rect">
            <a:avLst/>
          </a:prstGeom>
          <a:solidFill>
            <a:srgbClr val="0D1E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7889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8346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</a:rPr>
              <a:t>Изменение WB → А-лист обновляется автоматически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246119"/>
            <a:ext cx="5394960" cy="347472"/>
          </a:xfrm>
          <a:prstGeom prst="rect">
            <a:avLst/>
          </a:prstGeom>
          <a:solidFill>
            <a:srgbClr val="0D1E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2461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2918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</a:rPr>
              <a:t>Авторассылка уведомлений всем отделам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703319"/>
            <a:ext cx="5394960" cy="347472"/>
          </a:xfrm>
          <a:prstGeom prst="rect">
            <a:avLst/>
          </a:prstGeom>
          <a:solidFill>
            <a:srgbClr val="0D1E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7033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🖨️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7490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</a:rPr>
              <a:t>Печать нового А-листа — одна кнопка, работник относит на станцию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343400"/>
            <a:ext cx="11274552" cy="685800"/>
          </a:xfrm>
          <a:prstGeom prst="rect">
            <a:avLst/>
          </a:prstGeom>
          <a:solidFill>
            <a:srgbClr val="1A1605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4348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А-лист — опорный документ всего техпроцесса. Его используют ИТО, ОТК и производство. Автогенерация из WeldTeam гарантирует, что на станциях ВСЕГДА лежит актуальная документация.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BC8CFF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6EDF3"/>
                </a:solidFill>
              </a:rPr>
              <a:t>Три фазы развития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57600" cy="438912"/>
          </a:xfrm>
          <a:prstGeom prst="rect">
            <a:avLst/>
          </a:prstGeom>
          <a:solidFill>
            <a:srgbClr val="0E1828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08176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8A6FF"/>
                </a:solidFill>
              </a:rPr>
              <a:t>ФАЗА 1  </a:t>
            </a:r>
            <a:r>
              <a:rPr sz="1300" b="1">
                <a:solidFill>
                  <a:srgbClr val="E6EDF3"/>
                </a:solidFill>
              </a:rPr>
              <a:t>ИТО — Weld Balance → А-лист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836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019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47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Цифровое ведение Weld Balance в системе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408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591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048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Автогенерация А-листа из данных БД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980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8163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8620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Управление изменениями: версионирование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552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2735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3192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Авторассылка уведомлений при изменениях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124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7307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🖨️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7764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Печать А-листа одной кнопкой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1371600"/>
            <a:ext cx="3657600" cy="438912"/>
          </a:xfrm>
          <a:prstGeom prst="rect">
            <a:avLst/>
          </a:prstGeom>
          <a:solidFill>
            <a:srgbClr val="281E0A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8" y="1408176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3B341"/>
                </a:solidFill>
              </a:rPr>
              <a:t>ФАЗА 2  </a:t>
            </a:r>
            <a:r>
              <a:rPr sz="1300" b="1">
                <a:solidFill>
                  <a:srgbClr val="E6EDF3"/>
                </a:solidFill>
              </a:rPr>
              <a:t>ОТК — Ежедневные проверки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18836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9976" y="19019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1947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Технические карты ежедневных проверок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0248" y="23408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9976" y="23591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24048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Ежедневный план для каждого работника ОТК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27980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9976" y="28163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28620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Отметка выполненных точек прямо у станка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0248" y="32552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9976" y="32735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33192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Аналитика выполнения плана проверок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37124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79976" y="37307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37764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Привязка нарушений к дефектам в системе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83296" y="1371600"/>
            <a:ext cx="3657600" cy="438912"/>
          </a:xfrm>
          <a:prstGeom prst="rect">
            <a:avLst/>
          </a:prstGeom>
          <a:solidFill>
            <a:srgbClr val="1A1028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0456" y="1408176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BC8CFF"/>
                </a:solidFill>
              </a:rPr>
              <a:t>ФАЗА 3  </a:t>
            </a:r>
            <a:r>
              <a:rPr sz="1300" b="1">
                <a:solidFill>
                  <a:srgbClr val="E6EDF3"/>
                </a:solidFill>
              </a:rPr>
              <a:t>Полная автоматизация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83296" y="18836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93024" y="19019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22208" y="1947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Авторизация и роли: ИТО, ОТК, Производство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83296" y="23408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93024" y="23591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22208" y="24048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Автосчитывание данных с контроллеров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83296" y="27980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93024" y="28163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22208" y="28620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Тренды деградации и прогноз ТО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83296" y="32552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93024" y="32735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⚠️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22208" y="33192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Уведомления о просроченных ТО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83296" y="3712464"/>
            <a:ext cx="3657600" cy="402336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93024" y="37307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22208" y="37764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Экспорт отчётов в Excel / PDF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E3B341"/>
                </a:solidFill>
              </a:rPr>
              <a:t>ОТК · ФАЗА 2 — ПЛАН ПРОВЕРОК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6EDF3"/>
                </a:solidFill>
              </a:rPr>
              <a:t>Ежедневные операционные проверки ОТК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Что это и зачем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Каждый работник ОТК получает ежедневный план: какие точки проверить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7568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756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Технические карты содержат: точка, модель, параметры допуска, метод проверки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6829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6829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Работник открывает план на телефоне → идёт к станции → отмечает результат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60904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6090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Система знает: выполнено ли 100% плана за смену или остались пропуски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53512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5351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При выявлении нарушения — регистрируется дефект прямо из проверки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4612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Аналитика: какие точки чаще всего нарушают параметры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325880"/>
            <a:ext cx="5212080" cy="4846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463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ПОТОК РАБОТЫ — СМЕНА ОТК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828800"/>
            <a:ext cx="4846320" cy="493776"/>
          </a:xfrm>
          <a:prstGeom prst="rect">
            <a:avLst/>
          </a:prstGeom>
          <a:solidFill>
            <a:srgbClr val="0D1117"/>
          </a:solidFill>
          <a:ln w="762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828800"/>
            <a:ext cx="457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6EDF3"/>
                </a:solidFill>
              </a:rP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187452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8A6FF"/>
                </a:solidFill>
              </a:rPr>
              <a:t>А-лист формирует план
проверок на смену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2395728"/>
            <a:ext cx="4846320" cy="493776"/>
          </a:xfrm>
          <a:prstGeom prst="rect">
            <a:avLst/>
          </a:prstGeom>
          <a:solidFill>
            <a:srgbClr val="0D1117"/>
          </a:solidFill>
          <a:ln w="762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395728"/>
            <a:ext cx="457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6EDF3"/>
                </a:solidFill>
              </a:rPr>
              <a:t>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441448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3B341"/>
                </a:solidFill>
              </a:rPr>
              <a:t>Работник открывает план
на телефоне / планшете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962656"/>
            <a:ext cx="4846320" cy="493776"/>
          </a:xfrm>
          <a:prstGeom prst="rect">
            <a:avLst/>
          </a:prstGeom>
          <a:solidFill>
            <a:srgbClr val="0D1117"/>
          </a:solidFill>
          <a:ln w="7620"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962656"/>
            <a:ext cx="457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6EDF3"/>
                </a:solidFill>
              </a:rPr>
              <a:t>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008376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Идёт к станции, проверяет
указанные точки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3529584"/>
            <a:ext cx="4846320" cy="493776"/>
          </a:xfrm>
          <a:prstGeom prst="rect">
            <a:avLst/>
          </a:prstGeom>
          <a:solidFill>
            <a:srgbClr val="0D1117"/>
          </a:solidFill>
          <a:ln w="762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529584"/>
            <a:ext cx="457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6EDF3"/>
                </a:solidFill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575304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FB950"/>
                </a:solidFill>
              </a:rPr>
              <a:t>Отмечает результат:
ОК / нарушение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096512"/>
            <a:ext cx="4846320" cy="493776"/>
          </a:xfrm>
          <a:prstGeom prst="rect">
            <a:avLst/>
          </a:prstGeom>
          <a:solidFill>
            <a:srgbClr val="0D1117"/>
          </a:solidFill>
          <a:ln w="762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096512"/>
            <a:ext cx="457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6EDF3"/>
                </a:solidFill>
              </a:rPr>
              <a:t>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142232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5149"/>
                </a:solidFill>
              </a:rPr>
              <a:t>При нарушении — авто-
регистрация дефекта в системе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4663440"/>
            <a:ext cx="4846320" cy="493776"/>
          </a:xfrm>
          <a:prstGeom prst="rect">
            <a:avLst/>
          </a:prstGeom>
          <a:solidFill>
            <a:srgbClr val="0D1117"/>
          </a:solidFill>
          <a:ln w="762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663440"/>
            <a:ext cx="457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6EDF3"/>
                </a:solidFill>
              </a:rPr>
              <a:t>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470916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C8CFF"/>
                </a:solidFill>
              </a:rPr>
              <a:t>Аналитика за смену /
месяц в реальном времени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166360"/>
            <a:ext cx="11274552" cy="594360"/>
          </a:xfrm>
          <a:prstGeom prst="rect">
            <a:avLst/>
          </a:prstGeom>
          <a:solidFill>
            <a:srgbClr val="281E0A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30368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3B341"/>
                </a:solidFill>
              </a:rPr>
              <a:t>⚡  Почему Фаза 2 идёт после Фазы 1: ОТК строит свою работу на А-листе. Сначала А-лист должен генерироваться автоматически — только тогда план проверок будет всегда актуальным.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937760" y="27432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3FB950"/>
                </a:solidFill>
              </a:rP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015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E6EDF3"/>
                </a:solidFill>
              </a:rPr>
              <a:t>Самое главное — </a:t>
            </a:r>
            <a:r>
              <a:rPr sz="4000" b="1">
                <a:solidFill>
                  <a:srgbClr val="58A6FF"/>
                </a:solidFill>
              </a:rPr>
              <a:t>сделано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08760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8B949E"/>
                </a:solidFill>
              </a:rPr>
              <a:t>База данных заполнена, все модули ИТО работают. Следующий шаг — Weld Balance → А-лист, затем ОТК.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3566160" cy="192024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2311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EDF3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334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FB950"/>
                </a:solidFill>
              </a:rPr>
              <a:t>ИТО — сейчас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62656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ТО планируется и фиксируется. Уставки под контролем. Данные по каждому пистолету.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127" y="2103120"/>
            <a:ext cx="3566160" cy="1920240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19" y="22311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EDF3"/>
                </a:solidFill>
              </a:rPr>
              <a:t>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6334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3B341"/>
                </a:solidFill>
              </a:rPr>
              <a:t>ИТО — следующий шаг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2962656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Weld Balance в системе → А-лист автоматически → рассылка и печать при изменениях.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57614" y="2103120"/>
            <a:ext cx="3566160" cy="192024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6" y="22311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EDF3"/>
                </a:solidFill>
              </a:rPr>
              <a:t>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6" y="26334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8A6FF"/>
                </a:solidFill>
              </a:rPr>
              <a:t>ОТК — после ИТО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6" y="2962656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Ежедневные планы проверок на базе А-листа. Фиксация нарушений. Аналитика смен.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</a:rPr>
              <a:t>WeldTeam 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</a:rPr>
              <a:t>Цех BS · GWM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