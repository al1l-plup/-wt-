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72" r:id="rId3"/>
    <p:sldId id="273" r:id="rId4"/>
    <p:sldId id="274" r:id="rId5"/>
    <p:sldId id="275" r:id="rId6"/>
    <p:sldId id="27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70" r:id="rId2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129AEE-FA43-4540-B617-D99848D32F7B}" type="datetimeFigureOut">
              <a:rPr lang="LID4096" smtClean="0"/>
              <a:t>06/05/2026</a:t>
            </a:fld>
            <a:endParaRPr lang="LID4096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5F30A4-5BD0-43DF-858A-DA8C1B98EE5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7869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d40b5cd91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d40b5cd91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d40b5cd9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d40b5cd9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ed40b5cd91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ed40b5cd91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d40b5cd91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ed40b5cd91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d40b5cd91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ed40b5cd91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492" y="593367"/>
            <a:ext cx="11357841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492" y="1536633"/>
            <a:ext cx="11357841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448" lvl="0" indent="-457086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8895" lvl="1" indent="-423228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343" lvl="2" indent="-42322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7790" lvl="3" indent="-423228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238" lvl="4" indent="-423228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6686" lvl="5" indent="-42322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6133" lvl="6" indent="-423228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5581" lvl="7" indent="-423228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5028" lvl="8" indent="-42322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3669" y="6217623"/>
            <a:ext cx="731409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ru" smtClean="0"/>
              <a:pPr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3884045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92017" y="1463040"/>
            <a:ext cx="4404924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5600" b="1" dirty="0">
                <a:solidFill>
                  <a:srgbClr val="E6EDF3"/>
                </a:solidFill>
              </a:rPr>
              <a:t>Body</a:t>
            </a:r>
            <a:r>
              <a:rPr lang="en-US" sz="56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shop</a:t>
            </a:r>
            <a:r>
              <a:rPr sz="4400" b="0" dirty="0">
                <a:solidFill>
                  <a:srgbClr val="8B949E"/>
                </a:solidFill>
              </a:rPr>
              <a:t>  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880360"/>
            <a:ext cx="10360152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 dirty="0" err="1">
                <a:solidFill>
                  <a:srgbClr val="8B949E"/>
                </a:solidFill>
              </a:rPr>
              <a:t>Система</a:t>
            </a:r>
            <a:r>
              <a:rPr sz="1900" b="0" i="0" dirty="0">
                <a:solidFill>
                  <a:srgbClr val="8B949E"/>
                </a:solidFill>
              </a:rPr>
              <a:t> </a:t>
            </a:r>
            <a:r>
              <a:rPr sz="1900" b="0" i="0" dirty="0" err="1">
                <a:solidFill>
                  <a:srgbClr val="8B949E"/>
                </a:solidFill>
              </a:rPr>
              <a:t>управления</a:t>
            </a:r>
            <a:r>
              <a:rPr sz="1900" b="0" i="0" dirty="0">
                <a:solidFill>
                  <a:srgbClr val="8B949E"/>
                </a:solidFill>
              </a:rPr>
              <a:t> </a:t>
            </a:r>
            <a:r>
              <a:rPr sz="1900" b="0" i="0" dirty="0" err="1">
                <a:solidFill>
                  <a:srgbClr val="8B949E"/>
                </a:solidFill>
              </a:rPr>
              <a:t>сварочным</a:t>
            </a:r>
            <a:r>
              <a:rPr sz="1900" b="0" i="0" dirty="0">
                <a:solidFill>
                  <a:srgbClr val="8B949E"/>
                </a:solidFill>
              </a:rPr>
              <a:t> </a:t>
            </a:r>
            <a:r>
              <a:rPr sz="1900" b="0" i="0" dirty="0" err="1">
                <a:solidFill>
                  <a:srgbClr val="8B949E"/>
                </a:solidFill>
              </a:rPr>
              <a:t>про</a:t>
            </a:r>
            <a:r>
              <a:rPr lang="ru-RU" sz="1900" b="0" i="0" dirty="0" err="1">
                <a:solidFill>
                  <a:srgbClr val="8B949E"/>
                </a:solidFill>
              </a:rPr>
              <a:t>цессом</a:t>
            </a:r>
            <a:endParaRPr sz="1900" b="0" i="0" dirty="0">
              <a:solidFill>
                <a:srgbClr val="8B949E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474720" y="3520440"/>
            <a:ext cx="5239512" cy="411480"/>
          </a:xfrm>
          <a:prstGeom prst="rect">
            <a:avLst/>
          </a:prstGeom>
          <a:solidFill>
            <a:srgbClr val="0D1E10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0" y="3538728"/>
            <a:ext cx="5239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FB950"/>
                </a:solidFill>
              </a:rPr>
              <a:t>● Система работает  ·  Данные внесены  ·  Фундамент заложен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4160520"/>
            <a:ext cx="2103120" cy="347472"/>
          </a:xfrm>
          <a:prstGeom prst="rect">
            <a:avLst/>
          </a:prstGeom>
          <a:solidFill>
            <a:srgbClr val="161B22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0" y="41788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FB950"/>
                </a:solidFill>
              </a:rPr>
              <a:t>ДЛЯ ОТДЕЛА ИТО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4160520"/>
            <a:ext cx="2103120" cy="347472"/>
          </a:xfrm>
          <a:prstGeom prst="rect">
            <a:avLst/>
          </a:prstGeom>
          <a:solidFill>
            <a:srgbClr val="161B22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0" y="41788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 dirty="0">
                <a:solidFill>
                  <a:srgbClr val="58A6FF"/>
                </a:solidFill>
              </a:rPr>
              <a:t>ДЛЯ ОТДЕЛА ОТК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4160520"/>
            <a:ext cx="2103120" cy="347472"/>
          </a:xfrm>
          <a:prstGeom prst="rect">
            <a:avLst/>
          </a:prstGeom>
          <a:solidFill>
            <a:srgbClr val="161B22"/>
          </a:solidFill>
          <a:ln w="9525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0" y="4178808"/>
            <a:ext cx="210312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850" b="1" dirty="0">
                <a:solidFill>
                  <a:srgbClr val="BC8CFF"/>
                </a:solidFill>
              </a:rPr>
              <a:t>ДЛЯ ОТДЕЛА </a:t>
            </a:r>
            <a:r>
              <a:rPr lang="ru-RU" sz="850" b="1" i="0" dirty="0">
                <a:solidFill>
                  <a:srgbClr val="BC8CFF"/>
                </a:solidFill>
              </a:rPr>
              <a:t>Производство</a:t>
            </a:r>
            <a:endParaRPr sz="850" b="1" i="0" dirty="0">
              <a:solidFill>
                <a:srgbClr val="BC8CFF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0363D"/>
                </a:solidFill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415492" y="594105"/>
            <a:ext cx="11357841" cy="763401"/>
          </a:xfrm>
          <a:prstGeom prst="rect">
            <a:avLst/>
          </a:prstGeom>
        </p:spPr>
        <p:txBody>
          <a:bodyPr spcFirstLastPara="1" vert="horz" wrap="square" lIns="121868" tIns="121868" rIns="121868" bIns="121868" rtlCol="0" anchor="t" anchorCtr="0">
            <a:normAutofit fontScale="90000"/>
          </a:bodyPr>
          <a:lstStyle/>
          <a:p>
            <a:pPr algn="l"/>
            <a:r>
              <a:rPr lang="ru"/>
              <a:t>Проблемы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415492" y="1537126"/>
            <a:ext cx="11357841" cy="4554014"/>
          </a:xfrm>
          <a:prstGeom prst="rect">
            <a:avLst/>
          </a:prstGeom>
        </p:spPr>
        <p:txBody>
          <a:bodyPr spcFirstLastPara="1" vert="horz" wrap="square" lIns="121868" tIns="121868" rIns="121868" bIns="121868" rtlCol="0" anchor="t" anchorCtr="0">
            <a:normAutofit/>
          </a:bodyPr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ru" sz="1466" b="1" dirty="0">
                <a:solidFill>
                  <a:schemeClr val="dk1"/>
                </a:solidFill>
              </a:rPr>
              <a:t>Блокировка файлов:</a:t>
            </a:r>
            <a:r>
              <a:rPr lang="ru" sz="1466" dirty="0">
                <a:solidFill>
                  <a:schemeClr val="dk1"/>
                </a:solidFill>
              </a:rPr>
              <a:t> При параллельной работе мастеров и технологов Excel выдает ошибку «Файл заблокирован», останавливая ввод данных.</a:t>
            </a:r>
            <a:endParaRPr sz="1466" dirty="0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buClr>
                <a:schemeClr val="dk1"/>
              </a:buClr>
              <a:buSzPts val="1100"/>
              <a:buNone/>
            </a:pPr>
            <a:r>
              <a:rPr lang="ru" sz="1466" b="1" dirty="0">
                <a:solidFill>
                  <a:schemeClr val="dk1"/>
                </a:solidFill>
              </a:rPr>
              <a:t>Хаос в версиях:</a:t>
            </a:r>
            <a:r>
              <a:rPr lang="ru" sz="1466" dirty="0">
                <a:solidFill>
                  <a:schemeClr val="dk1"/>
                </a:solidFill>
              </a:rPr>
              <a:t> Сетевая папка забита копиями файлов (например, </a:t>
            </a:r>
            <a:r>
              <a:rPr lang="ru" sz="1466" i="1" dirty="0">
                <a:solidFill>
                  <a:schemeClr val="dk1"/>
                </a:solidFill>
              </a:rPr>
              <a:t>«Лог_сварки_v2»</a:t>
            </a:r>
            <a:r>
              <a:rPr lang="ru" sz="1466" dirty="0">
                <a:solidFill>
                  <a:schemeClr val="dk1"/>
                </a:solidFill>
              </a:rPr>
              <a:t>),</a:t>
            </a:r>
            <a:r>
              <a:rPr lang="ru-RU" sz="1466" dirty="0">
                <a:solidFill>
                  <a:schemeClr val="dk1"/>
                </a:solidFill>
              </a:rPr>
              <a:t>затруднительно </a:t>
            </a:r>
            <a:r>
              <a:rPr lang="ru" sz="1466" dirty="0">
                <a:solidFill>
                  <a:schemeClr val="dk1"/>
                </a:solidFill>
              </a:rPr>
              <a:t>найти актуальные данные.</a:t>
            </a:r>
            <a:endParaRPr sz="1466" dirty="0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buClr>
                <a:schemeClr val="dk1"/>
              </a:buClr>
              <a:buSzPts val="1100"/>
              <a:buNone/>
            </a:pPr>
            <a:r>
              <a:rPr lang="ru" sz="1466" b="1" dirty="0">
                <a:solidFill>
                  <a:schemeClr val="dk1"/>
                </a:solidFill>
              </a:rPr>
              <a:t>Человеческий фактор:</a:t>
            </a:r>
            <a:r>
              <a:rPr lang="ru" sz="1466" dirty="0">
                <a:solidFill>
                  <a:schemeClr val="dk1"/>
                </a:solidFill>
              </a:rPr>
              <a:t> Любой сотрудник может случайно удалить формулу, затереть лог геометрии кузова или скрыть брак.</a:t>
            </a:r>
            <a:endParaRPr sz="1466" dirty="0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buClr>
                <a:schemeClr val="dk1"/>
              </a:buClr>
              <a:buSzPts val="1100"/>
              <a:buNone/>
            </a:pPr>
            <a:r>
              <a:rPr lang="ru" sz="1466" b="1" dirty="0">
                <a:solidFill>
                  <a:schemeClr val="dk1"/>
                </a:solidFill>
              </a:rPr>
              <a:t>Отсутствие истории:</a:t>
            </a:r>
            <a:r>
              <a:rPr lang="ru" sz="1466" dirty="0">
                <a:solidFill>
                  <a:schemeClr val="dk1"/>
                </a:solidFill>
              </a:rPr>
              <a:t> Нет логгирования — невозможно узнать, </a:t>
            </a:r>
            <a:r>
              <a:rPr lang="ru" sz="1466" i="1" dirty="0">
                <a:solidFill>
                  <a:schemeClr val="dk1"/>
                </a:solidFill>
              </a:rPr>
              <a:t>кто, когда и что</a:t>
            </a:r>
            <a:r>
              <a:rPr lang="ru" sz="1466" dirty="0">
                <a:solidFill>
                  <a:schemeClr val="dk1"/>
                </a:solidFill>
              </a:rPr>
              <a:t> изменил в отчете.</a:t>
            </a:r>
            <a:endParaRPr sz="1466" dirty="0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buClr>
                <a:schemeClr val="dk1"/>
              </a:buClr>
              <a:buSzPts val="1100"/>
              <a:buNone/>
            </a:pPr>
            <a:r>
              <a:rPr lang="ru" sz="1466" b="1" dirty="0">
                <a:solidFill>
                  <a:schemeClr val="dk1"/>
                </a:solidFill>
              </a:rPr>
              <a:t>Мусор в данных:</a:t>
            </a:r>
            <a:r>
              <a:rPr lang="ru" sz="1466" dirty="0">
                <a:solidFill>
                  <a:schemeClr val="dk1"/>
                </a:solidFill>
              </a:rPr>
              <a:t> Из-за ручного ввода без жестких ограничений (разное написание имен, дат, номеров кузовов) аналитика ломается.</a:t>
            </a:r>
            <a:endParaRPr sz="1466" dirty="0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buClr>
                <a:schemeClr val="dk1"/>
              </a:buClr>
              <a:buSzPts val="1100"/>
              <a:buNone/>
            </a:pPr>
            <a:r>
              <a:rPr lang="ru" sz="1466" b="1" dirty="0">
                <a:solidFill>
                  <a:schemeClr val="dk1"/>
                </a:solidFill>
              </a:rPr>
              <a:t>Потеря скорости:</a:t>
            </a:r>
            <a:r>
              <a:rPr lang="ru" sz="1466" dirty="0">
                <a:solidFill>
                  <a:schemeClr val="dk1"/>
                </a:solidFill>
              </a:rPr>
              <a:t> С ростом базы (номера кузовов, параметры точек сварки, результаты УЗК) тяжелые Excel-файлы начинают «вешаться» и долго открываться.</a:t>
            </a:r>
            <a:endParaRPr sz="1466" dirty="0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ru" sz="1466" b="1" dirty="0">
                <a:solidFill>
                  <a:schemeClr val="dk1"/>
                </a:solidFill>
              </a:rPr>
              <a:t>Ручной перенос данных:</a:t>
            </a:r>
            <a:r>
              <a:rPr lang="ru" sz="1466" dirty="0">
                <a:solidFill>
                  <a:schemeClr val="dk1"/>
                </a:solidFill>
              </a:rPr>
              <a:t> Отчеты по браку собираются с задержкой.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415492" y="594105"/>
            <a:ext cx="11357841" cy="763401"/>
          </a:xfrm>
          <a:prstGeom prst="rect">
            <a:avLst/>
          </a:prstGeom>
        </p:spPr>
        <p:txBody>
          <a:bodyPr spcFirstLastPara="1" vert="horz" wrap="square" lIns="121868" tIns="121868" rIns="121868" bIns="121868" rtlCol="0" anchor="t" anchorCtr="0">
            <a:normAutofit fontScale="90000"/>
          </a:bodyPr>
          <a:lstStyle/>
          <a:p>
            <a:pPr algn="l"/>
            <a:r>
              <a:rPr lang="ru"/>
              <a:t>Процедурные документы Weld Team</a:t>
            </a: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415492" y="1537126"/>
            <a:ext cx="11357841" cy="4554014"/>
          </a:xfrm>
          <a:prstGeom prst="rect">
            <a:avLst/>
          </a:prstGeom>
        </p:spPr>
        <p:txBody>
          <a:bodyPr spcFirstLastPara="1" vert="horz" wrap="square" lIns="121868" tIns="121868" rIns="121868" bIns="121868" rtlCol="0" anchor="t" anchorCtr="0">
            <a:normAutofit/>
          </a:bodyPr>
          <a:lstStyle/>
          <a:p>
            <a:pPr marL="0" indent="0"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68" name="Google Shape;68;p15"/>
          <p:cNvSpPr/>
          <p:nvPr/>
        </p:nvSpPr>
        <p:spPr>
          <a:xfrm>
            <a:off x="945086" y="2181158"/>
            <a:ext cx="2232219" cy="1435226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pPr algn="ctr"/>
            <a:r>
              <a:rPr lang="ru" sz="2000" dirty="0"/>
              <a:t>Перечень Оборудования</a:t>
            </a:r>
            <a:endParaRPr sz="2000" dirty="0"/>
          </a:p>
        </p:txBody>
      </p:sp>
      <p:sp>
        <p:nvSpPr>
          <p:cNvPr id="69" name="Google Shape;69;p15"/>
          <p:cNvSpPr/>
          <p:nvPr/>
        </p:nvSpPr>
        <p:spPr>
          <a:xfrm>
            <a:off x="8816536" y="2181158"/>
            <a:ext cx="2232219" cy="1435226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pPr algn="ctr"/>
            <a:r>
              <a:rPr lang="ru" sz="2000" dirty="0"/>
              <a:t>Параметры сварочных пистолетов</a:t>
            </a:r>
            <a:endParaRPr sz="2000" dirty="0"/>
          </a:p>
        </p:txBody>
      </p:sp>
      <p:sp>
        <p:nvSpPr>
          <p:cNvPr id="70" name="Google Shape;70;p15"/>
          <p:cNvSpPr/>
          <p:nvPr/>
        </p:nvSpPr>
        <p:spPr>
          <a:xfrm>
            <a:off x="3568903" y="4138215"/>
            <a:ext cx="2232219" cy="1435226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pPr algn="ctr"/>
            <a:r>
              <a:rPr lang="ru" sz="2000" dirty="0"/>
              <a:t>Журнал Технического Обслуживания</a:t>
            </a:r>
            <a:endParaRPr sz="2000" dirty="0"/>
          </a:p>
        </p:txBody>
      </p:sp>
      <p:sp>
        <p:nvSpPr>
          <p:cNvPr id="71" name="Google Shape;71;p15"/>
          <p:cNvSpPr/>
          <p:nvPr/>
        </p:nvSpPr>
        <p:spPr>
          <a:xfrm>
            <a:off x="945086" y="4138215"/>
            <a:ext cx="2232219" cy="1435226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pPr algn="ctr"/>
            <a:r>
              <a:rPr lang="ru" sz="2000" dirty="0"/>
              <a:t>Журнал Отработки Дефектов</a:t>
            </a:r>
            <a:endParaRPr sz="2000" dirty="0"/>
          </a:p>
        </p:txBody>
      </p:sp>
      <p:sp>
        <p:nvSpPr>
          <p:cNvPr id="72" name="Google Shape;72;p15"/>
          <p:cNvSpPr/>
          <p:nvPr/>
        </p:nvSpPr>
        <p:spPr>
          <a:xfrm>
            <a:off x="3568903" y="2181158"/>
            <a:ext cx="2232219" cy="1435226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pPr algn="ctr"/>
            <a:r>
              <a:rPr lang="ru" sz="2000" dirty="0"/>
              <a:t>Операционный лист</a:t>
            </a:r>
            <a:endParaRPr sz="2000" dirty="0"/>
          </a:p>
        </p:txBody>
      </p:sp>
      <p:sp>
        <p:nvSpPr>
          <p:cNvPr id="73" name="Google Shape;73;p15"/>
          <p:cNvSpPr/>
          <p:nvPr/>
        </p:nvSpPr>
        <p:spPr>
          <a:xfrm>
            <a:off x="6192719" y="2181158"/>
            <a:ext cx="2232219" cy="1435226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pPr algn="ctr"/>
            <a:r>
              <a:rPr lang="ru" sz="2000" dirty="0"/>
              <a:t>Weld Balance</a:t>
            </a:r>
            <a:endParaRPr sz="2000" dirty="0"/>
          </a:p>
        </p:txBody>
      </p:sp>
      <p:sp>
        <p:nvSpPr>
          <p:cNvPr id="74" name="Google Shape;74;p15"/>
          <p:cNvSpPr/>
          <p:nvPr/>
        </p:nvSpPr>
        <p:spPr>
          <a:xfrm>
            <a:off x="6192719" y="4138215"/>
            <a:ext cx="2232219" cy="1435226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pPr algn="ctr"/>
            <a:r>
              <a:rPr lang="ru" sz="2000" dirty="0"/>
              <a:t>Журнал изменения точек на роботах</a:t>
            </a:r>
            <a:endParaRPr sz="2000" dirty="0"/>
          </a:p>
        </p:txBody>
      </p:sp>
      <p:sp>
        <p:nvSpPr>
          <p:cNvPr id="75" name="Google Shape;75;p15"/>
          <p:cNvSpPr/>
          <p:nvPr/>
        </p:nvSpPr>
        <p:spPr>
          <a:xfrm>
            <a:off x="8816536" y="4138215"/>
            <a:ext cx="2232219" cy="1435226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pPr algn="ctr"/>
            <a:r>
              <a:rPr lang="ru" sz="2000" dirty="0"/>
              <a:t>Журнал параметров на робот ячейке</a:t>
            </a:r>
            <a:endParaRPr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>
            <a:spLocks noGrp="1"/>
          </p:cNvSpPr>
          <p:nvPr>
            <p:ph type="title"/>
          </p:nvPr>
        </p:nvSpPr>
        <p:spPr>
          <a:xfrm>
            <a:off x="415492" y="594105"/>
            <a:ext cx="11357841" cy="763401"/>
          </a:xfrm>
          <a:prstGeom prst="rect">
            <a:avLst/>
          </a:prstGeom>
        </p:spPr>
        <p:txBody>
          <a:bodyPr spcFirstLastPara="1" vert="horz" wrap="square" lIns="121868" tIns="121868" rIns="121868" bIns="121868" rtlCol="0" anchor="t" anchorCtr="0">
            <a:normAutofit fontScale="90000"/>
          </a:bodyPr>
          <a:lstStyle/>
          <a:p>
            <a:pPr algn="l"/>
            <a:r>
              <a:rPr lang="ru"/>
              <a:t>Что такое MES-система? </a:t>
            </a:r>
            <a:endParaRPr/>
          </a:p>
        </p:txBody>
      </p:sp>
      <p:sp>
        <p:nvSpPr>
          <p:cNvPr id="81" name="Google Shape;81;p16"/>
          <p:cNvSpPr txBox="1">
            <a:spLocks noGrp="1"/>
          </p:cNvSpPr>
          <p:nvPr>
            <p:ph type="body" idx="1"/>
          </p:nvPr>
        </p:nvSpPr>
        <p:spPr>
          <a:xfrm>
            <a:off x="415491" y="1537126"/>
            <a:ext cx="3935775" cy="4554014"/>
          </a:xfrm>
          <a:prstGeom prst="rect">
            <a:avLst/>
          </a:prstGeom>
        </p:spPr>
        <p:txBody>
          <a:bodyPr spcFirstLastPara="1" vert="horz" wrap="square" lIns="121868" tIns="121868" rIns="121868" bIns="121868" rtlCol="0" anchor="t" anchorCtr="0">
            <a:normAutofit/>
          </a:bodyPr>
          <a:lstStyle/>
          <a:p>
            <a:pPr marL="0" indent="0">
              <a:buNone/>
            </a:pPr>
            <a:r>
              <a:rPr lang="ru" sz="1466" b="1">
                <a:solidFill>
                  <a:schemeClr val="dk1"/>
                </a:solidFill>
              </a:rPr>
              <a:t>MES (Manufacturing Execution System)</a:t>
            </a:r>
            <a:r>
              <a:rPr lang="ru" sz="1466">
                <a:solidFill>
                  <a:schemeClr val="dk1"/>
                </a:solidFill>
              </a:rPr>
              <a:t> — это система управления производственными процессами. Она отвечает за контроль, синхронизацию и оптимизацию выпуска продукции от запуска заказа до получения готового изделия. </a:t>
            </a:r>
            <a:endParaRPr sz="1466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buNone/>
            </a:pPr>
            <a:endParaRPr sz="1466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ru" sz="1466">
                <a:solidFill>
                  <a:schemeClr val="dk1"/>
                </a:solidFill>
              </a:rPr>
              <a:t>В нашем же цеху, мы можем применить MES систему, для: </a:t>
            </a:r>
            <a:br>
              <a:rPr lang="ru" sz="1466">
                <a:solidFill>
                  <a:schemeClr val="dk1"/>
                </a:solidFill>
              </a:rPr>
            </a:br>
            <a:r>
              <a:rPr lang="ru" sz="1466">
                <a:solidFill>
                  <a:schemeClr val="dk1"/>
                </a:solidFill>
              </a:rPr>
              <a:t>1. технологического процесса, </a:t>
            </a:r>
            <a:br>
              <a:rPr lang="ru" sz="1466">
                <a:solidFill>
                  <a:schemeClr val="dk1"/>
                </a:solidFill>
              </a:rPr>
            </a:br>
            <a:r>
              <a:rPr lang="ru" sz="1466">
                <a:solidFill>
                  <a:schemeClr val="dk1"/>
                </a:solidFill>
              </a:rPr>
              <a:t>2. работу с дефектами</a:t>
            </a:r>
            <a:br>
              <a:rPr lang="ru" sz="1466">
                <a:solidFill>
                  <a:schemeClr val="dk1"/>
                </a:solidFill>
              </a:rPr>
            </a:br>
            <a:r>
              <a:rPr lang="ru" sz="1466">
                <a:solidFill>
                  <a:schemeClr val="dk1"/>
                </a:solidFill>
              </a:rPr>
              <a:t>3. актуализация данных</a:t>
            </a:r>
            <a:br>
              <a:rPr lang="ru" sz="1466">
                <a:solidFill>
                  <a:schemeClr val="dk1"/>
                </a:solidFill>
              </a:rPr>
            </a:br>
            <a:r>
              <a:rPr lang="ru" sz="1466">
                <a:solidFill>
                  <a:schemeClr val="dk1"/>
                </a:solidFill>
              </a:rPr>
              <a:t>4. анализ данных</a:t>
            </a:r>
            <a:endParaRPr sz="1466">
              <a:solidFill>
                <a:schemeClr val="dk1"/>
              </a:solidFill>
            </a:endParaRPr>
          </a:p>
        </p:txBody>
      </p:sp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4284" y="1706849"/>
            <a:ext cx="6805227" cy="42145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>
            <a:spLocks noGrp="1"/>
          </p:cNvSpPr>
          <p:nvPr>
            <p:ph type="title"/>
          </p:nvPr>
        </p:nvSpPr>
        <p:spPr>
          <a:xfrm>
            <a:off x="415492" y="594105"/>
            <a:ext cx="11357841" cy="763401"/>
          </a:xfrm>
          <a:prstGeom prst="rect">
            <a:avLst/>
          </a:prstGeom>
        </p:spPr>
        <p:txBody>
          <a:bodyPr spcFirstLastPara="1" vert="horz" wrap="square" lIns="121868" tIns="121868" rIns="121868" bIns="121868" rtlCol="0" anchor="t" anchorCtr="0">
            <a:normAutofit fontScale="90000"/>
          </a:bodyPr>
          <a:lstStyle/>
          <a:p>
            <a:pPr algn="l"/>
            <a:r>
              <a:rPr lang="ru" dirty="0"/>
              <a:t>Фундаментом MES является SQL база данных. </a:t>
            </a:r>
            <a:endParaRPr dirty="0"/>
          </a:p>
        </p:txBody>
      </p:sp>
      <p:sp>
        <p:nvSpPr>
          <p:cNvPr id="88" name="Google Shape;88;p17"/>
          <p:cNvSpPr txBox="1">
            <a:spLocks noGrp="1"/>
          </p:cNvSpPr>
          <p:nvPr>
            <p:ph type="body" idx="1"/>
          </p:nvPr>
        </p:nvSpPr>
        <p:spPr>
          <a:xfrm>
            <a:off x="415492" y="1537126"/>
            <a:ext cx="11357841" cy="4554014"/>
          </a:xfrm>
          <a:prstGeom prst="rect">
            <a:avLst/>
          </a:prstGeom>
        </p:spPr>
        <p:txBody>
          <a:bodyPr spcFirstLastPara="1" vert="horz" wrap="square" lIns="121868" tIns="121868" rIns="121868" bIns="121868" rtlCol="0" anchor="t" anchorCtr="0">
            <a:normAutofit/>
          </a:bodyPr>
          <a:lstStyle/>
          <a:p>
            <a:pPr marL="0" indent="0">
              <a:spcBef>
                <a:spcPts val="1600"/>
              </a:spcBef>
              <a:buClr>
                <a:schemeClr val="dk1"/>
              </a:buClr>
              <a:buSzPts val="1100"/>
              <a:buNone/>
            </a:pPr>
            <a:r>
              <a:rPr lang="ru" sz="1466" b="1">
                <a:solidFill>
                  <a:schemeClr val="dk1"/>
                </a:solidFill>
              </a:rPr>
              <a:t>SQL (Structured Query Language)</a:t>
            </a:r>
            <a:r>
              <a:rPr lang="ru" sz="1466">
                <a:solidFill>
                  <a:schemeClr val="dk1"/>
                </a:solidFill>
              </a:rPr>
              <a:t> — это промышленный стандарт для работы с упорядоченными данными. Внедрение MES без SQL невозможно, так как база данных берет на себя всю «черную работу» по обработке информации.</a:t>
            </a:r>
            <a:endParaRPr sz="1466">
              <a:solidFill>
                <a:schemeClr val="dk1"/>
              </a:solidFill>
            </a:endParaRPr>
          </a:p>
          <a:p>
            <a:pPr marL="0" indent="0">
              <a:spcBef>
                <a:spcPts val="1866"/>
              </a:spcBef>
              <a:buClr>
                <a:schemeClr val="dk1"/>
              </a:buClr>
              <a:buSzPts val="1100"/>
              <a:buNone/>
            </a:pPr>
            <a:r>
              <a:rPr lang="ru" sz="1733" b="1">
                <a:solidFill>
                  <a:schemeClr val="dk1"/>
                </a:solidFill>
              </a:rPr>
              <a:t>🛡️ Ключевые преимущества SQL для кузовного цеха</a:t>
            </a:r>
            <a:endParaRPr sz="1733" b="1">
              <a:solidFill>
                <a:schemeClr val="dk1"/>
              </a:solidFill>
            </a:endParaRPr>
          </a:p>
          <a:p>
            <a:pPr indent="-397834">
              <a:spcBef>
                <a:spcPts val="1600"/>
              </a:spcBef>
              <a:buClr>
                <a:schemeClr val="dk1"/>
              </a:buClr>
              <a:buSzPts val="1100"/>
            </a:pPr>
            <a:r>
              <a:rPr lang="ru" sz="1466" b="1">
                <a:solidFill>
                  <a:schemeClr val="dk1"/>
                </a:solidFill>
              </a:rPr>
              <a:t>Одновременная работа (Многопоточность):</a:t>
            </a:r>
            <a:r>
              <a:rPr lang="ru" sz="1466">
                <a:solidFill>
                  <a:schemeClr val="dk1"/>
                </a:solidFill>
              </a:rPr>
              <a:t> 100 человек и 20 автоматизированных постов (сварка, геометрия, УЗК) могут одновременно записывать и читать данные без зависаний и блокировок.</a:t>
            </a:r>
            <a:endParaRPr sz="1466">
              <a:solidFill>
                <a:schemeClr val="dk1"/>
              </a:solidFill>
            </a:endParaRPr>
          </a:p>
          <a:p>
            <a:pPr indent="-397834">
              <a:buClr>
                <a:schemeClr val="dk1"/>
              </a:buClr>
              <a:buSzPts val="1100"/>
            </a:pPr>
            <a:r>
              <a:rPr lang="ru" sz="1466" b="1">
                <a:solidFill>
                  <a:schemeClr val="dk1"/>
                </a:solidFill>
              </a:rPr>
              <a:t>Жесткая структура и валидация:</a:t>
            </a:r>
            <a:r>
              <a:rPr lang="ru" sz="1466">
                <a:solidFill>
                  <a:schemeClr val="dk1"/>
                </a:solidFill>
              </a:rPr>
              <a:t> База физически не примет «мусор». Если поле требует VIN-номер или ID сварочного трансформатора, оператор или контроллер не смогут вписать туда случайный текст.</a:t>
            </a:r>
            <a:endParaRPr sz="1466">
              <a:solidFill>
                <a:schemeClr val="dk1"/>
              </a:solidFill>
            </a:endParaRPr>
          </a:p>
          <a:p>
            <a:pPr indent="-397834">
              <a:buClr>
                <a:schemeClr val="dk1"/>
              </a:buClr>
              <a:buSzPts val="1100"/>
            </a:pPr>
            <a:r>
              <a:rPr lang="ru" sz="1466" b="1">
                <a:solidFill>
                  <a:schemeClr val="dk1"/>
                </a:solidFill>
              </a:rPr>
              <a:t>Полноценное логирование (След в истории):</a:t>
            </a:r>
            <a:r>
              <a:rPr lang="ru" sz="1466">
                <a:solidFill>
                  <a:schemeClr val="dk1"/>
                </a:solidFill>
              </a:rPr>
              <a:t> Любое действие (изменение параметров шпинделя, фиксация брака, назначение мастера на пост) автоматически записывается. Мы всегда знаем: </a:t>
            </a:r>
            <a:r>
              <a:rPr lang="ru" sz="1466" i="1">
                <a:solidFill>
                  <a:schemeClr val="dk1"/>
                </a:solidFill>
              </a:rPr>
              <a:t>кто, что и когда изменил</a:t>
            </a:r>
            <a:r>
              <a:rPr lang="ru" sz="1466">
                <a:solidFill>
                  <a:schemeClr val="dk1"/>
                </a:solidFill>
              </a:rPr>
              <a:t>.</a:t>
            </a:r>
            <a:endParaRPr sz="1466">
              <a:solidFill>
                <a:schemeClr val="dk1"/>
              </a:solidFill>
            </a:endParaRPr>
          </a:p>
          <a:p>
            <a:pPr indent="-397834">
              <a:buClr>
                <a:schemeClr val="dk1"/>
              </a:buClr>
              <a:buSzPts val="1100"/>
            </a:pPr>
            <a:r>
              <a:rPr lang="ru" sz="1466" b="1">
                <a:solidFill>
                  <a:schemeClr val="dk1"/>
                </a:solidFill>
              </a:rPr>
              <a:t>Связанность данных (Реляционность):</a:t>
            </a:r>
            <a:r>
              <a:rPr lang="ru" sz="1466">
                <a:solidFill>
                  <a:schemeClr val="dk1"/>
                </a:solidFill>
              </a:rPr>
              <a:t> Все таблицы связаны между собой. В один клик можно вытащить историю: </a:t>
            </a:r>
            <a:r>
              <a:rPr lang="ru" sz="1466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Кузов №XXXX</a:t>
            </a:r>
            <a:r>
              <a:rPr lang="ru" sz="1466">
                <a:solidFill>
                  <a:schemeClr val="dk1"/>
                </a:solidFill>
              </a:rPr>
              <a:t> ➡️ </a:t>
            </a:r>
            <a:r>
              <a:rPr lang="ru" sz="1466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Оператор: Айбар</a:t>
            </a:r>
            <a:r>
              <a:rPr lang="ru" sz="1466">
                <a:solidFill>
                  <a:schemeClr val="dk1"/>
                </a:solidFill>
              </a:rPr>
              <a:t> ➡️ </a:t>
            </a:r>
            <a:r>
              <a:rPr lang="ru" sz="1466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Пост №3</a:t>
            </a:r>
            <a:r>
              <a:rPr lang="ru" sz="1466">
                <a:solidFill>
                  <a:schemeClr val="dk1"/>
                </a:solidFill>
              </a:rPr>
              <a:t> ➡️ </a:t>
            </a:r>
            <a:r>
              <a:rPr lang="ru" sz="1466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Результат TearDown-теста</a:t>
            </a:r>
            <a:r>
              <a:rPr lang="ru" sz="1466">
                <a:solidFill>
                  <a:schemeClr val="dk1"/>
                </a:solidFill>
              </a:rPr>
              <a:t>.</a:t>
            </a:r>
            <a:endParaRPr sz="1466">
              <a:solidFill>
                <a:schemeClr val="dk1"/>
              </a:solidFill>
            </a:endParaRPr>
          </a:p>
          <a:p>
            <a:pPr indent="-397834">
              <a:buClr>
                <a:schemeClr val="dk1"/>
              </a:buClr>
              <a:buSzPts val="1100"/>
            </a:pPr>
            <a:r>
              <a:rPr lang="ru" sz="1466" b="1">
                <a:solidFill>
                  <a:schemeClr val="dk1"/>
                </a:solidFill>
              </a:rPr>
              <a:t>Безопасность и разграничение прав:</a:t>
            </a:r>
            <a:r>
              <a:rPr lang="ru" sz="1466">
                <a:solidFill>
                  <a:schemeClr val="dk1"/>
                </a:solidFill>
              </a:rPr>
              <a:t> Мастер видит только свои посты, технолог — технологические карты, а руководство — общую аналитику. Данные защищены от случайного удаления или копирования на флешку.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415492" y="594105"/>
            <a:ext cx="11357841" cy="763401"/>
          </a:xfrm>
          <a:prstGeom prst="rect">
            <a:avLst/>
          </a:prstGeom>
        </p:spPr>
        <p:txBody>
          <a:bodyPr spcFirstLastPara="1" vert="horz" wrap="square" lIns="121868" tIns="121868" rIns="121868" bIns="121868" rtlCol="0" anchor="t" anchorCtr="0">
            <a:normAutofit fontScale="90000"/>
          </a:bodyPr>
          <a:lstStyle/>
          <a:p>
            <a:pPr algn="l"/>
            <a:r>
              <a:rPr lang="ru"/>
              <a:t>SQL против Excel 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415492" y="1537126"/>
            <a:ext cx="11357841" cy="4554014"/>
          </a:xfrm>
          <a:prstGeom prst="rect">
            <a:avLst/>
          </a:prstGeom>
        </p:spPr>
        <p:txBody>
          <a:bodyPr spcFirstLastPara="1" vert="horz" wrap="square" lIns="121868" tIns="121868" rIns="121868" bIns="121868" rtlCol="0" anchor="t" anchorCtr="0">
            <a:normAutofit/>
          </a:bodyPr>
          <a:lstStyle/>
          <a:p>
            <a:pPr marL="0" indent="0">
              <a:spcAft>
                <a:spcPts val="1600"/>
              </a:spcAft>
              <a:buNone/>
            </a:pPr>
            <a:endParaRPr/>
          </a:p>
        </p:txBody>
      </p:sp>
      <p:graphicFrame>
        <p:nvGraphicFramePr>
          <p:cNvPr id="95" name="Google Shape;95;p18"/>
          <p:cNvGraphicFramePr/>
          <p:nvPr/>
        </p:nvGraphicFramePr>
        <p:xfrm>
          <a:off x="415492" y="1537127"/>
          <a:ext cx="11357809" cy="470718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69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99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87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59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 b="1">
                          <a:solidFill>
                            <a:srgbClr val="1F1F1F"/>
                          </a:solidFill>
                        </a:rPr>
                        <a:t>Критерий</a:t>
                      </a:r>
                      <a:endParaRPr sz="1500" b="1">
                        <a:solidFill>
                          <a:srgbClr val="1F1F1F"/>
                        </a:solidFill>
                      </a:endParaRPr>
                    </a:p>
                  </a:txBody>
                  <a:tcPr marL="152360" marR="152360" marT="101574" marB="101574">
                    <a:lnL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 b="1">
                          <a:solidFill>
                            <a:srgbClr val="1F1F1F"/>
                          </a:solidFill>
                        </a:rPr>
                        <a:t>Текущее состояние (Excel)</a:t>
                      </a:r>
                      <a:endParaRPr sz="1500" b="1">
                        <a:solidFill>
                          <a:srgbClr val="1F1F1F"/>
                        </a:solidFill>
                      </a:endParaRPr>
                    </a:p>
                  </a:txBody>
                  <a:tcPr marL="152360" marR="152360" marT="101574" marB="101574">
                    <a:lnL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 b="1">
                          <a:solidFill>
                            <a:srgbClr val="1F1F1F"/>
                          </a:solidFill>
                        </a:rPr>
                        <a:t>Целевое состояние (SQL + MES)</a:t>
                      </a:r>
                      <a:endParaRPr sz="1500" b="1">
                        <a:solidFill>
                          <a:srgbClr val="1F1F1F"/>
                        </a:solidFill>
                      </a:endParaRPr>
                    </a:p>
                  </a:txBody>
                  <a:tcPr marL="152360" marR="152360" marT="101574" marB="101574">
                    <a:lnL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9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 b="1">
                          <a:solidFill>
                            <a:srgbClr val="1F1F1F"/>
                          </a:solidFill>
                        </a:rPr>
                        <a:t>Объем данных</a:t>
                      </a:r>
                      <a:endParaRPr sz="1500" b="1">
                        <a:solidFill>
                          <a:srgbClr val="1F1F1F"/>
                        </a:solidFill>
                      </a:endParaRPr>
                    </a:p>
                  </a:txBody>
                  <a:tcPr marL="152360" marR="152360" marT="101574" marB="101574">
                    <a:lnL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solidFill>
                            <a:srgbClr val="1F1F1F"/>
                          </a:solidFill>
                        </a:rPr>
                        <a:t>Тормозит уже при 10 000 строк</a:t>
                      </a:r>
                      <a:endParaRPr sz="1500">
                        <a:solidFill>
                          <a:srgbClr val="1F1F1F"/>
                        </a:solidFill>
                      </a:endParaRPr>
                    </a:p>
                  </a:txBody>
                  <a:tcPr marL="152360" marR="152360" marT="101574" marB="101574">
                    <a:lnL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solidFill>
                            <a:srgbClr val="1F1F1F"/>
                          </a:solidFill>
                        </a:rPr>
                        <a:t>Легко обрабатывает миллионы строк</a:t>
                      </a:r>
                      <a:endParaRPr sz="1500">
                        <a:solidFill>
                          <a:srgbClr val="1F1F1F"/>
                        </a:solidFill>
                      </a:endParaRPr>
                    </a:p>
                  </a:txBody>
                  <a:tcPr marL="152360" marR="152360" marT="101574" marB="101574">
                    <a:lnL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9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 b="1">
                          <a:solidFill>
                            <a:srgbClr val="1F1F1F"/>
                          </a:solidFill>
                        </a:rPr>
                        <a:t>Доступ</a:t>
                      </a:r>
                      <a:endParaRPr sz="1500" b="1">
                        <a:solidFill>
                          <a:srgbClr val="1F1F1F"/>
                        </a:solidFill>
                      </a:endParaRPr>
                    </a:p>
                  </a:txBody>
                  <a:tcPr marL="152360" marR="152360" marT="101574" marB="101574">
                    <a:lnL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solidFill>
                            <a:srgbClr val="1F1F1F"/>
                          </a:solidFill>
                        </a:rPr>
                        <a:t>Только один человек на запись</a:t>
                      </a:r>
                      <a:endParaRPr sz="1500">
                        <a:solidFill>
                          <a:srgbClr val="1F1F1F"/>
                        </a:solidFill>
                      </a:endParaRPr>
                    </a:p>
                  </a:txBody>
                  <a:tcPr marL="152360" marR="152360" marT="101574" marB="101574">
                    <a:lnL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solidFill>
                            <a:srgbClr val="1F1F1F"/>
                          </a:solidFill>
                        </a:rPr>
                        <a:t>Ограничений нет (все посты параллельно)</a:t>
                      </a:r>
                      <a:endParaRPr sz="1500">
                        <a:solidFill>
                          <a:srgbClr val="1F1F1F"/>
                        </a:solidFill>
                      </a:endParaRPr>
                    </a:p>
                  </a:txBody>
                  <a:tcPr marL="152360" marR="152360" marT="101574" marB="101574">
                    <a:lnL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9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 b="1">
                          <a:solidFill>
                            <a:srgbClr val="1F1F1F"/>
                          </a:solidFill>
                        </a:rPr>
                        <a:t>Интеграция</a:t>
                      </a:r>
                      <a:endParaRPr sz="1500" b="1">
                        <a:solidFill>
                          <a:srgbClr val="1F1F1F"/>
                        </a:solidFill>
                      </a:endParaRPr>
                    </a:p>
                  </a:txBody>
                  <a:tcPr marL="152360" marR="152360" marT="101574" marB="101574">
                    <a:lnL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solidFill>
                            <a:srgbClr val="1F1F1F"/>
                          </a:solidFill>
                        </a:rPr>
                        <a:t>Только ручной ввод</a:t>
                      </a:r>
                      <a:endParaRPr sz="1500">
                        <a:solidFill>
                          <a:srgbClr val="1F1F1F"/>
                        </a:solidFill>
                      </a:endParaRPr>
                    </a:p>
                  </a:txBody>
                  <a:tcPr marL="152360" marR="152360" marT="101574" marB="101574">
                    <a:lnL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solidFill>
                            <a:srgbClr val="1F1F1F"/>
                          </a:solidFill>
                        </a:rPr>
                        <a:t>Автоматический обновление всех связанных данных в базе</a:t>
                      </a:r>
                      <a:endParaRPr sz="1500">
                        <a:solidFill>
                          <a:srgbClr val="1F1F1F"/>
                        </a:solidFill>
                      </a:endParaRPr>
                    </a:p>
                  </a:txBody>
                  <a:tcPr marL="152360" marR="152360" marT="101574" marB="101574">
                    <a:lnL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9024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 b="1">
                          <a:solidFill>
                            <a:srgbClr val="1F1F1F"/>
                          </a:solidFill>
                        </a:rPr>
                        <a:t>Надежность</a:t>
                      </a:r>
                      <a:endParaRPr sz="1500" b="1">
                        <a:solidFill>
                          <a:srgbClr val="1F1F1F"/>
                        </a:solidFill>
                      </a:endParaRPr>
                    </a:p>
                  </a:txBody>
                  <a:tcPr marL="152360" marR="152360" marT="101574" marB="101574">
                    <a:lnL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solidFill>
                            <a:srgbClr val="1F1F1F"/>
                          </a:solidFill>
                        </a:rPr>
                        <a:t>Файл легко повредить или удалить.</a:t>
                      </a:r>
                      <a:br>
                        <a:rPr lang="ru" sz="1500">
                          <a:solidFill>
                            <a:srgbClr val="1F1F1F"/>
                          </a:solidFill>
                        </a:rPr>
                      </a:br>
                      <a:r>
                        <a:rPr lang="ru" sz="1500">
                          <a:solidFill>
                            <a:srgbClr val="1F1F1F"/>
                          </a:solidFill>
                        </a:rPr>
                        <a:t>Резервное копирование делать сложно и весит много.</a:t>
                      </a:r>
                      <a:endParaRPr sz="1500">
                        <a:solidFill>
                          <a:srgbClr val="1F1F1F"/>
                        </a:solidFill>
                      </a:endParaRPr>
                    </a:p>
                  </a:txBody>
                  <a:tcPr marL="152360" marR="152360" marT="101574" marB="101574">
                    <a:lnL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solidFill>
                            <a:srgbClr val="1F1F1F"/>
                          </a:solidFill>
                        </a:rPr>
                        <a:t>Резервное копирование в автоматическом режиме</a:t>
                      </a:r>
                      <a:endParaRPr sz="1500">
                        <a:solidFill>
                          <a:srgbClr val="1F1F1F"/>
                        </a:solidFill>
                      </a:endParaRPr>
                    </a:p>
                  </a:txBody>
                  <a:tcPr marL="152360" marR="152360" marT="101574" marB="101574">
                    <a:lnL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2042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 b="1">
                          <a:solidFill>
                            <a:srgbClr val="1F1F1F"/>
                          </a:solidFill>
                        </a:rPr>
                        <a:t>Память</a:t>
                      </a:r>
                      <a:endParaRPr sz="1500" b="1">
                        <a:solidFill>
                          <a:srgbClr val="1F1F1F"/>
                        </a:solidFill>
                      </a:endParaRPr>
                    </a:p>
                  </a:txBody>
                  <a:tcPr marL="152360" marR="152360" marT="101574" marB="101574">
                    <a:lnL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solidFill>
                            <a:srgbClr val="1F1F1F"/>
                          </a:solidFill>
                        </a:rPr>
                        <a:t>Excel таблицы имеют большой вес и все документы вместе могут весить терабайты</a:t>
                      </a:r>
                      <a:endParaRPr sz="1500">
                        <a:solidFill>
                          <a:srgbClr val="1F1F1F"/>
                        </a:solidFill>
                      </a:endParaRPr>
                    </a:p>
                  </a:txBody>
                  <a:tcPr marL="152360" marR="152360" marT="101574" marB="101574">
                    <a:lnL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solidFill>
                            <a:srgbClr val="1F1F1F"/>
                          </a:solidFill>
                        </a:rPr>
                        <a:t>Excel при зап</a:t>
                      </a:r>
                      <a:endParaRPr sz="1500">
                        <a:solidFill>
                          <a:srgbClr val="1F1F1F"/>
                        </a:solidFill>
                      </a:endParaRPr>
                    </a:p>
                  </a:txBody>
                  <a:tcPr marL="152360" marR="152360" marT="101574" marB="101574">
                    <a:lnL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2042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 b="1">
                          <a:solidFill>
                            <a:srgbClr val="1F1F1F"/>
                          </a:solidFill>
                        </a:rPr>
                        <a:t>Сортировка</a:t>
                      </a:r>
                      <a:endParaRPr sz="1500" b="1">
                        <a:solidFill>
                          <a:srgbClr val="1F1F1F"/>
                        </a:solidFill>
                      </a:endParaRPr>
                    </a:p>
                  </a:txBody>
                  <a:tcPr marL="152360" marR="152360" marT="101574" marB="101574">
                    <a:lnL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solidFill>
                            <a:srgbClr val="1F1F1F"/>
                          </a:solidFill>
                        </a:rPr>
                        <a:t>Данные могут дублироваться, собираться ненужные данные</a:t>
                      </a:r>
                      <a:endParaRPr sz="1500">
                        <a:solidFill>
                          <a:srgbClr val="1F1F1F"/>
                        </a:solidFill>
                      </a:endParaRPr>
                    </a:p>
                  </a:txBody>
                  <a:tcPr marL="152360" marR="152360" marT="101574" marB="101574">
                    <a:lnL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solidFill>
                            <a:srgbClr val="1F1F1F"/>
                          </a:solidFill>
                        </a:rPr>
                        <a:t>Избегает дублирования и оптимизирует данные</a:t>
                      </a:r>
                      <a:endParaRPr sz="1500">
                        <a:solidFill>
                          <a:srgbClr val="1F1F1F"/>
                        </a:solidFill>
                      </a:endParaRPr>
                    </a:p>
                  </a:txBody>
                  <a:tcPr marL="152360" marR="152360" marT="101574" marB="101574">
                    <a:lnL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2011680" cy="274320"/>
          </a:xfrm>
          <a:prstGeom prst="rect">
            <a:avLst/>
          </a:prstGeom>
          <a:solidFill>
            <a:srgbClr val="161B22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3FB950"/>
                </a:solidFill>
              </a:rPr>
              <a:t>ФУНДАМЕНТ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</a:rPr>
              <a:t>Что уже реализовано и работает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08760"/>
            <a:ext cx="2011680" cy="12801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58A6FF"/>
                </a:solidFill>
              </a:rPr>
              <a:t>569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</a:rPr>
              <a:t>Сварочных
пистолетов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508760"/>
            <a:ext cx="2011680" cy="12801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0" y="16459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BC8CFF"/>
                </a:solidFill>
              </a:rPr>
              <a:t>16 680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1945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</a:rPr>
              <a:t>Сварочных
точек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508760"/>
            <a:ext cx="2011680" cy="12801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0" y="1645920"/>
            <a:ext cx="20116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E3B341"/>
                </a:solidFill>
              </a:rPr>
              <a:t>5</a:t>
            </a:r>
            <a:endParaRPr sz="3200" b="1" i="0" dirty="0">
              <a:solidFill>
                <a:srgbClr val="E3B34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0" y="21945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</a:rPr>
              <a:t>Моделей
авто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1508760"/>
            <a:ext cx="2011680" cy="12801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0" y="16459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3FB950"/>
                </a:solidFill>
              </a:rPr>
              <a:t>2 606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1945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</a:rPr>
              <a:t>Записей
плана ТО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0" y="1508760"/>
            <a:ext cx="2011680" cy="12801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0" y="16459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85149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21945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</a:rPr>
              <a:t>Произв.
линии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971800"/>
            <a:ext cx="11274552" cy="914400"/>
          </a:xfrm>
          <a:prstGeom prst="rect">
            <a:avLst/>
          </a:prstGeom>
          <a:solidFill>
            <a:srgbClr val="0E1828"/>
          </a:solidFill>
          <a:ln w="9525">
            <a:solidFill>
              <a:srgbClr val="1D4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2971800"/>
            <a:ext cx="64008" cy="914400"/>
          </a:xfrm>
          <a:prstGeom prst="rect">
            <a:avLst/>
          </a:prstGeom>
          <a:solidFill>
            <a:srgbClr val="58A6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06324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6EDF3"/>
                </a:solidFill>
              </a:rPr>
              <a:t>Вся структура цеха занесена в базу данных: бренды → станции → пистолеты → точки сварки → уставки техпроцесса. Это фундаментальная работа, которая позволяет строить любой аналитический и операционный функционал.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069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949E"/>
                </a:solidFill>
              </a:rPr>
              <a:t>Иерархия данных: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434840"/>
            <a:ext cx="173736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44531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8A6FF"/>
                </a:solidFill>
              </a:rPr>
              <a:t>Бренд (линия)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44805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50592" y="4434840"/>
            <a:ext cx="173736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450592" y="44531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B949E"/>
                </a:solidFill>
              </a:rPr>
              <a:t>Станция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87952" y="44805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43984" y="4434840"/>
            <a:ext cx="173736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43984" y="44531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8A6FF"/>
                </a:solidFill>
              </a:rPr>
              <a:t>Пистолет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81344" y="44805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37376" y="4434840"/>
            <a:ext cx="173736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37376" y="44531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B949E"/>
                </a:solidFill>
              </a:rPr>
              <a:t>Точки сварки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74736" y="44805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30768" y="4434840"/>
            <a:ext cx="173736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30768" y="44531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8A6FF"/>
                </a:solidFill>
              </a:rPr>
              <a:t>Уставки техпроцесса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68128" y="44805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424160" y="4434840"/>
            <a:ext cx="173736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424160" y="44531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B949E"/>
                </a:solidFill>
              </a:rPr>
              <a:t>История изменений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0363D"/>
                </a:solidFill>
              </a:rPr>
              <a:t>2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2011680" cy="274320"/>
          </a:xfrm>
          <a:prstGeom prst="rect">
            <a:avLst/>
          </a:prstGeom>
          <a:solidFill>
            <a:srgbClr val="161B22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58A6FF"/>
                </a:solidFill>
              </a:rPr>
              <a:t>ТЕХНОЛОГИЯ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</a:rPr>
              <a:t>Как работает система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3566160" cy="21031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627632"/>
            <a:ext cx="3236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6EDF3"/>
                </a:solidFill>
              </a:rPr>
              <a:t>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975104"/>
            <a:ext cx="3236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Веб-приложение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295144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Открывается в любом браузере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542032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Не требует установки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788920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Работает на ПК, телефоне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035808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и планшете в сети цеха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61687" y="1463040"/>
            <a:ext cx="3566160" cy="21031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79" y="1627632"/>
            <a:ext cx="3236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6EDF3"/>
                </a:solidFill>
              </a:rPr>
              <a:t>🗄️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1975104"/>
            <a:ext cx="3236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База данных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79" y="2295144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Централизованное хранение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79" y="2542032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Актуальные данные 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79" y="2788920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реальном времени для всех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79" y="3035808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сотрудников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66174" y="1463040"/>
            <a:ext cx="3566160" cy="21031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30766" y="1627632"/>
            <a:ext cx="3236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6EDF3"/>
                </a:solidFill>
              </a:rPr>
              <a:t>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6" y="1975104"/>
            <a:ext cx="3236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Мобильная версия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0766" y="2295144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Страницы адаптированы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0766" y="2542032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под телефон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0766" y="2788920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Регистрация ТО и дефектов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0766" y="3035808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прямо у станка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749040"/>
            <a:ext cx="3566160" cy="21031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" y="3913632"/>
            <a:ext cx="3236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6EDF3"/>
                </a:solidFill>
              </a:rPr>
              <a:t>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4261104"/>
            <a:ext cx="3236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Аудит изменений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4581144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Каждое изменение уставок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4828032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записывается с датой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5074920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и комментарием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5321808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История не удаляется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61687" y="3749040"/>
            <a:ext cx="3566160" cy="21031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26279" y="3913632"/>
            <a:ext cx="3236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6EDF3"/>
                </a:solidFill>
              </a:rPr>
              <a:t>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279" y="4261104"/>
            <a:ext cx="3236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Валидация данных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279" y="4581144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Проверка замеров ТО: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6279" y="4828032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допуск ±100 А по току,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6279" y="5074920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±50 daN по давлению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26279" y="5321808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Выход — предупреждение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0363D"/>
                </a:solidFill>
              </a:rPr>
              <a:t>3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0" y="1371600"/>
            <a:ext cx="5788152" cy="4114800"/>
          </a:xfrm>
          <a:prstGeom prst="rect">
            <a:avLst/>
          </a:prstGeom>
          <a:solidFill>
            <a:srgbClr val="0D152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722876" y="10972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 i="0">
                <a:solidFill>
                  <a:srgbClr val="E6EDF3"/>
                </a:solidFill>
              </a:rPr>
              <a:t>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10470" y="2173666"/>
            <a:ext cx="2011680" cy="274320"/>
          </a:xfrm>
          <a:prstGeom prst="rect">
            <a:avLst/>
          </a:prstGeom>
          <a:solidFill>
            <a:srgbClr val="161B22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 dirty="0">
                <a:solidFill>
                  <a:srgbClr val="3FB950"/>
                </a:solidFill>
              </a:rPr>
              <a:t>ОТДЕЛ </a:t>
            </a:r>
            <a:r>
              <a:rPr lang="en-US" sz="800" b="1" dirty="0" err="1">
                <a:solidFill>
                  <a:srgbClr val="3FB950"/>
                </a:solidFill>
              </a:rPr>
              <a:t>WeldTeam</a:t>
            </a:r>
            <a:endParaRPr sz="800" b="1" dirty="0">
              <a:solidFill>
                <a:srgbClr val="3FB95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E6EDF3"/>
                </a:solidFill>
              </a:rPr>
              <a:t>Техническое обслуживание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11880"/>
            <a:ext cx="94457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8B949E"/>
                </a:solidFill>
              </a:rPr>
              <a:t>Планирование, выполнение и контроль ТО сварочных пистолетов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0363D"/>
                </a:solidFill>
              </a:rPr>
              <a:t>4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2011680" cy="274320"/>
          </a:xfrm>
          <a:prstGeom prst="rect">
            <a:avLst/>
          </a:prstGeom>
          <a:solidFill>
            <a:srgbClr val="161B22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800" b="1" dirty="0" err="1">
                <a:solidFill>
                  <a:srgbClr val="3FB950"/>
                </a:solidFill>
              </a:rPr>
              <a:t>WeldTeam</a:t>
            </a:r>
            <a:r>
              <a:rPr sz="800" b="1" dirty="0">
                <a:solidFill>
                  <a:srgbClr val="3FB950"/>
                </a:solidFill>
              </a:rPr>
              <a:t> · ПЛАНИРОВАНИЕ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</a:rPr>
              <a:t>Ежедневный план ТО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6309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Годовой план ТО загружен — 2 606 записей по всем брендам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01368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01368"/>
            <a:ext cx="6309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Назначить пистолеты на ТО одним кликом — с фильтром по бренду и дате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93976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93976"/>
            <a:ext cx="6309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В задаче видно: номер и тип пистолета, бренд, станция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86584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86584"/>
            <a:ext cx="6309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Взять задачу в работу прямо с экрана телефона у станка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79192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79192"/>
            <a:ext cx="6309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Записать ТО из задачи — задача автоматически закрывается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71800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971800"/>
            <a:ext cx="6309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Прогресс выполнения плана по брендам с % готовности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1417320"/>
            <a:ext cx="4114800" cy="45720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0" y="155448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949E"/>
                </a:solidFill>
              </a:rPr>
              <a:t>ПОТОК РАБОТЫ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1920240"/>
            <a:ext cx="3749039" cy="438912"/>
          </a:xfrm>
          <a:prstGeom prst="rect">
            <a:avLst/>
          </a:prstGeom>
          <a:solidFill>
            <a:srgbClr val="0D1117"/>
          </a:solidFill>
          <a:ln w="9525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0" y="1938528"/>
            <a:ext cx="3749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B949E"/>
                </a:solidFill>
              </a:rPr>
              <a:t>📋 Назначить пистолеты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3042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2578608"/>
            <a:ext cx="3749039" cy="438912"/>
          </a:xfrm>
          <a:prstGeom prst="rect">
            <a:avLst/>
          </a:prstGeom>
          <a:solidFill>
            <a:srgbClr val="0D1117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0" y="2596896"/>
            <a:ext cx="3749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8A6FF"/>
                </a:solidFill>
              </a:rPr>
              <a:t>🔧 Взять в работу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96265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0" y="3236976"/>
            <a:ext cx="3749039" cy="438912"/>
          </a:xfrm>
          <a:prstGeom prst="rect">
            <a:avLst/>
          </a:prstGeom>
          <a:solidFill>
            <a:srgbClr val="0D1117"/>
          </a:solidFill>
          <a:ln w="9525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0" y="3255264"/>
            <a:ext cx="3749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3B341"/>
                </a:solidFill>
              </a:rPr>
              <a:t>📏 Снять замеры (3×ток, 3×давл.)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362102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0" y="3895344"/>
            <a:ext cx="3749039" cy="438912"/>
          </a:xfrm>
          <a:prstGeom prst="rect">
            <a:avLst/>
          </a:prstGeom>
          <a:solidFill>
            <a:srgbClr val="0D1117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72400" y="3913632"/>
            <a:ext cx="3749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FB950"/>
                </a:solidFill>
              </a:rPr>
              <a:t>✅ ТО зафиксировано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0363D"/>
                </a:solidFill>
              </a:rPr>
              <a:t>5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5216" y="310896"/>
            <a:ext cx="2011680" cy="274320"/>
          </a:xfrm>
          <a:prstGeom prst="rect">
            <a:avLst/>
          </a:prstGeom>
          <a:solidFill>
            <a:srgbClr val="161B22"/>
          </a:solidFill>
          <a:ln w="9525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800" b="1" dirty="0" err="1">
                <a:solidFill>
                  <a:srgbClr val="E3B341"/>
                </a:solidFill>
              </a:rPr>
              <a:t>WeldTeam</a:t>
            </a:r>
            <a:r>
              <a:rPr sz="800" b="1" dirty="0">
                <a:solidFill>
                  <a:srgbClr val="E3B341"/>
                </a:solidFill>
              </a:rPr>
              <a:t> · УСТАВКИ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</a:rPr>
              <a:t>Управление параметрами сварки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Уставки хранятся в БД для каждого пистолета и каждой точки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01368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01368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Все параметры: давление (daN), к.трансформации, ток 1/2, времена циклограммы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93976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93976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Изменение уставок — с обязательным комментарием «зачем меняем»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86584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86584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Полный архив: когда, какие параметры, какой комментарий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79192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79192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Старые уставки не удаляются — сохраняется полная история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71800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971800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Привязка замеров ТО к конкретной уставке (факт/план)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1417320"/>
            <a:ext cx="4114800" cy="36576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0" y="155448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EDF3"/>
                </a:solidFill>
              </a:rPr>
              <a:t>📊  Что видно в архиве уставок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1965960"/>
            <a:ext cx="164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9872" y="19659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Дата введения уставки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2258568"/>
            <a:ext cx="164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9872" y="22585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Режим сварки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2551176"/>
            <a:ext cx="164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9872" y="255117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Давление, К.Трансформации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2843784"/>
            <a:ext cx="164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84378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Ток 1 и Ток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3136392"/>
            <a:ext cx="164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FB950"/>
                </a:solidFill>
              </a:rPr>
              <a:t>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19872" y="313639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</a:rPr>
              <a:t>Комментарий к изменению ← новое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60" y="3429000"/>
            <a:ext cx="164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19872" y="34290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Активна / в архиве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0363D"/>
                </a:solidFill>
              </a:rPr>
              <a:t>6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0" y="1371600"/>
            <a:ext cx="5788152" cy="4114800"/>
          </a:xfrm>
          <a:prstGeom prst="rect">
            <a:avLst/>
          </a:prstGeom>
          <a:solidFill>
            <a:srgbClr val="0D152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722876" y="10972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 i="0">
                <a:solidFill>
                  <a:srgbClr val="E6EDF3"/>
                </a:solidFill>
              </a:rPr>
              <a:t>🔍</a:t>
            </a:r>
          </a:p>
        </p:txBody>
      </p:sp>
      <p:sp>
        <p:nvSpPr>
          <p:cNvPr id="4" name="Rectangle 3"/>
          <p:cNvSpPr/>
          <p:nvPr/>
        </p:nvSpPr>
        <p:spPr>
          <a:xfrm>
            <a:off x="4951476" y="2148840"/>
            <a:ext cx="2011680" cy="274320"/>
          </a:xfrm>
          <a:prstGeom prst="rect">
            <a:avLst/>
          </a:prstGeom>
          <a:solidFill>
            <a:srgbClr val="161B22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 dirty="0">
                <a:solidFill>
                  <a:srgbClr val="58A6FF"/>
                </a:solidFill>
              </a:rPr>
              <a:t>ОТДЕЛ ОТК</a:t>
            </a:r>
            <a:r>
              <a:rPr lang="en-US" sz="800" b="1" dirty="0">
                <a:solidFill>
                  <a:srgbClr val="58A6FF"/>
                </a:solidFill>
              </a:rPr>
              <a:t> + </a:t>
            </a:r>
            <a:r>
              <a:rPr lang="en-US" sz="800" b="1" dirty="0" err="1">
                <a:solidFill>
                  <a:srgbClr val="00B050"/>
                </a:solidFill>
              </a:rPr>
              <a:t>WeldTeam</a:t>
            </a:r>
            <a:endParaRPr sz="800" b="1" dirty="0">
              <a:solidFill>
                <a:srgbClr val="00B05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E6EDF3"/>
                </a:solidFill>
              </a:rPr>
              <a:t>Управление дефектами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11880"/>
            <a:ext cx="94457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8B949E"/>
                </a:solidFill>
              </a:rPr>
              <a:t>Регистрация, расследование и закрытие дефектов сварки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0363D"/>
                </a:solidFill>
              </a:rPr>
              <a:t>7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2011680" cy="274320"/>
          </a:xfrm>
          <a:prstGeom prst="rect">
            <a:avLst/>
          </a:prstGeom>
          <a:solidFill>
            <a:srgbClr val="161B22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58A6FF"/>
                </a:solidFill>
              </a:rPr>
              <a:t>ОТК · ДЕФЕКТЫ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</a:rPr>
              <a:t>Регистрация и закрытие дефектов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16 кодов дефектов из техпроцесса (CR, SN, LP, BN, SW и др.)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01368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01368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Регистрация: модель авто → номер точки → код дефекта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93976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93976"/>
            <a:ext cx="6400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E6EDF3"/>
                </a:solidFill>
              </a:rPr>
              <a:t>В </a:t>
            </a:r>
            <a:r>
              <a:rPr sz="1200" b="0" i="0" dirty="0" err="1">
                <a:solidFill>
                  <a:srgbClr val="E6EDF3"/>
                </a:solidFill>
              </a:rPr>
              <a:t>карточке</a:t>
            </a:r>
            <a:r>
              <a:rPr sz="1200" b="0" i="0" dirty="0">
                <a:solidFill>
                  <a:srgbClr val="E6EDF3"/>
                </a:solidFill>
              </a:rPr>
              <a:t> </a:t>
            </a:r>
            <a:r>
              <a:rPr sz="1200" b="0" i="0" dirty="0" err="1">
                <a:solidFill>
                  <a:srgbClr val="E6EDF3"/>
                </a:solidFill>
              </a:rPr>
              <a:t>видно</a:t>
            </a:r>
            <a:r>
              <a:rPr sz="1200" b="0" i="0" dirty="0">
                <a:solidFill>
                  <a:srgbClr val="E6EDF3"/>
                </a:solidFill>
              </a:rPr>
              <a:t>: </a:t>
            </a:r>
            <a:r>
              <a:rPr sz="1200" b="0" i="0" dirty="0" err="1">
                <a:solidFill>
                  <a:srgbClr val="E6EDF3"/>
                </a:solidFill>
              </a:rPr>
              <a:t>тип</a:t>
            </a:r>
            <a:r>
              <a:rPr sz="1200" b="0" i="0" dirty="0">
                <a:solidFill>
                  <a:srgbClr val="E6EDF3"/>
                </a:solidFill>
              </a:rPr>
              <a:t> </a:t>
            </a:r>
            <a:r>
              <a:rPr sz="1200" b="0" i="0" dirty="0" err="1">
                <a:solidFill>
                  <a:srgbClr val="E6EDF3"/>
                </a:solidFill>
              </a:rPr>
              <a:t>пистолета</a:t>
            </a:r>
            <a:r>
              <a:rPr sz="1200" b="0" i="0" dirty="0">
                <a:solidFill>
                  <a:srgbClr val="E6EDF3"/>
                </a:solidFill>
              </a:rPr>
              <a:t>, </a:t>
            </a:r>
            <a:r>
              <a:rPr sz="1200" b="0" i="0" dirty="0" err="1">
                <a:solidFill>
                  <a:srgbClr val="E6EDF3"/>
                </a:solidFill>
              </a:rPr>
              <a:t>бренд</a:t>
            </a:r>
            <a:r>
              <a:rPr sz="1200" b="0" i="0" dirty="0">
                <a:solidFill>
                  <a:srgbClr val="E6EDF3"/>
                </a:solidFill>
              </a:rPr>
              <a:t>, </a:t>
            </a:r>
            <a:r>
              <a:rPr sz="1200" b="0" i="0" dirty="0" err="1">
                <a:solidFill>
                  <a:srgbClr val="E6EDF3"/>
                </a:solidFill>
              </a:rPr>
              <a:t>станция</a:t>
            </a:r>
            <a:r>
              <a:rPr sz="1200" b="0" i="0" dirty="0">
                <a:solidFill>
                  <a:srgbClr val="E6EDF3"/>
                </a:solidFill>
              </a:rPr>
              <a:t> — </a:t>
            </a:r>
            <a:r>
              <a:rPr lang="ru-RU" sz="1200" b="0" i="0" dirty="0">
                <a:solidFill>
                  <a:srgbClr val="E6EDF3"/>
                </a:solidFill>
              </a:rPr>
              <a:t>Быстрый поиск</a:t>
            </a:r>
            <a:endParaRPr sz="1200" b="0" i="0" dirty="0">
              <a:solidFill>
                <a:srgbClr val="E6EDF3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2386584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86584"/>
            <a:ext cx="6400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E6EDF3"/>
                </a:solidFill>
              </a:rPr>
              <a:t>Workflow: </a:t>
            </a:r>
            <a:r>
              <a:rPr sz="1200" b="0" i="0" dirty="0" err="1">
                <a:solidFill>
                  <a:srgbClr val="E6EDF3"/>
                </a:solidFill>
              </a:rPr>
              <a:t>Зарегистрирован</a:t>
            </a:r>
            <a:r>
              <a:rPr sz="1200" b="0" i="0" dirty="0">
                <a:solidFill>
                  <a:srgbClr val="E6EDF3"/>
                </a:solidFill>
              </a:rPr>
              <a:t> → </a:t>
            </a:r>
            <a:r>
              <a:rPr sz="1200" b="0" i="0" dirty="0" err="1">
                <a:solidFill>
                  <a:srgbClr val="E6EDF3"/>
                </a:solidFill>
              </a:rPr>
              <a:t>Закрыть</a:t>
            </a:r>
            <a:endParaRPr sz="1200" b="0" i="0" dirty="0">
              <a:solidFill>
                <a:srgbClr val="E6EDF3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2886968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856095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E6EDF3"/>
                </a:solidFill>
              </a:rPr>
              <a:t>При</a:t>
            </a:r>
            <a:r>
              <a:rPr sz="1200" b="0" i="0" dirty="0">
                <a:solidFill>
                  <a:srgbClr val="E6EDF3"/>
                </a:solidFill>
              </a:rPr>
              <a:t> </a:t>
            </a:r>
            <a:r>
              <a:rPr sz="1200" b="0" i="0" dirty="0" err="1">
                <a:solidFill>
                  <a:srgbClr val="E6EDF3"/>
                </a:solidFill>
              </a:rPr>
              <a:t>закрытии</a:t>
            </a:r>
            <a:r>
              <a:rPr sz="1200" b="0" i="0" dirty="0">
                <a:solidFill>
                  <a:srgbClr val="E6EDF3"/>
                </a:solidFill>
              </a:rPr>
              <a:t>: </a:t>
            </a:r>
            <a:r>
              <a:rPr sz="1200" b="0" i="0" dirty="0" err="1">
                <a:solidFill>
                  <a:srgbClr val="E6EDF3"/>
                </a:solidFill>
              </a:rPr>
              <a:t>первопричина</a:t>
            </a:r>
            <a:r>
              <a:rPr sz="1200" b="0" i="0" dirty="0">
                <a:solidFill>
                  <a:srgbClr val="E6EDF3"/>
                </a:solidFill>
              </a:rPr>
              <a:t> + </a:t>
            </a:r>
            <a:r>
              <a:rPr sz="1200" b="0" i="0" dirty="0" err="1">
                <a:solidFill>
                  <a:srgbClr val="E6EDF3"/>
                </a:solidFill>
              </a:rPr>
              <a:t>контрмера</a:t>
            </a:r>
            <a:r>
              <a:rPr sz="1200" b="0" i="0" dirty="0">
                <a:solidFill>
                  <a:srgbClr val="E6EDF3"/>
                </a:solidFill>
              </a:rPr>
              <a:t> + </a:t>
            </a:r>
            <a:r>
              <a:rPr sz="1200" b="0" i="0" dirty="0" err="1">
                <a:solidFill>
                  <a:srgbClr val="E6EDF3"/>
                </a:solidFill>
              </a:rPr>
              <a:t>ответственный</a:t>
            </a:r>
            <a:endParaRPr sz="1200" b="0" i="0" dirty="0">
              <a:solidFill>
                <a:srgbClr val="E6EDF3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3246751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55657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E6EDF3"/>
                </a:solidFill>
              </a:rPr>
              <a:t>История</a:t>
            </a:r>
            <a:r>
              <a:rPr sz="1200" b="0" i="0" dirty="0">
                <a:solidFill>
                  <a:srgbClr val="E6EDF3"/>
                </a:solidFill>
              </a:rPr>
              <a:t> </a:t>
            </a:r>
            <a:r>
              <a:rPr sz="1200" b="0" i="0" dirty="0" err="1">
                <a:solidFill>
                  <a:srgbClr val="E6EDF3"/>
                </a:solidFill>
              </a:rPr>
              <a:t>закрытых</a:t>
            </a:r>
            <a:r>
              <a:rPr sz="1200" b="0" i="0" dirty="0">
                <a:solidFill>
                  <a:srgbClr val="E6EDF3"/>
                </a:solidFill>
              </a:rPr>
              <a:t> </a:t>
            </a:r>
            <a:r>
              <a:rPr sz="1200" b="0" i="0" dirty="0" err="1">
                <a:solidFill>
                  <a:srgbClr val="E6EDF3"/>
                </a:solidFill>
              </a:rPr>
              <a:t>дефектов</a:t>
            </a:r>
            <a:r>
              <a:rPr sz="1200" b="0" i="0" dirty="0">
                <a:solidFill>
                  <a:srgbClr val="E6EDF3"/>
                </a:solidFill>
              </a:rPr>
              <a:t> с </a:t>
            </a:r>
            <a:r>
              <a:rPr sz="1200" b="0" i="0" dirty="0" err="1">
                <a:solidFill>
                  <a:srgbClr val="E6EDF3"/>
                </a:solidFill>
              </a:rPr>
              <a:t>поиском</a:t>
            </a:r>
            <a:r>
              <a:rPr sz="1200" b="0" i="0" dirty="0">
                <a:solidFill>
                  <a:srgbClr val="E6EDF3"/>
                </a:solidFill>
              </a:rPr>
              <a:t> </a:t>
            </a:r>
            <a:r>
              <a:rPr sz="1200" b="0" i="0" dirty="0" err="1">
                <a:solidFill>
                  <a:srgbClr val="E6EDF3"/>
                </a:solidFill>
              </a:rPr>
              <a:t>по</a:t>
            </a:r>
            <a:r>
              <a:rPr sz="1200" b="0" i="0" dirty="0">
                <a:solidFill>
                  <a:srgbClr val="E6EDF3"/>
                </a:solidFill>
              </a:rPr>
              <a:t> </a:t>
            </a:r>
            <a:r>
              <a:rPr sz="1200" b="0" i="0" dirty="0" err="1">
                <a:solidFill>
                  <a:srgbClr val="E6EDF3"/>
                </a:solidFill>
              </a:rPr>
              <a:t>периоду</a:t>
            </a:r>
            <a:endParaRPr sz="1200" b="0" i="0" dirty="0">
              <a:solidFill>
                <a:srgbClr val="E6EDF3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589520" y="1417320"/>
            <a:ext cx="4114800" cy="39319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0" y="155448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949E"/>
                </a:solidFill>
              </a:rPr>
              <a:t>16 КОДОВ ДЕФЕКТОВ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1920240"/>
            <a:ext cx="658368" cy="301752"/>
          </a:xfrm>
          <a:prstGeom prst="rect">
            <a:avLst/>
          </a:prstGeom>
          <a:solidFill>
            <a:srgbClr val="250D0C"/>
          </a:solidFill>
          <a:ln w="63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0" y="1920240"/>
            <a:ext cx="6583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85149"/>
                </a:solidFill>
              </a:rPr>
              <a:t>CR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22208" y="1920240"/>
            <a:ext cx="658368" cy="301752"/>
          </a:xfrm>
          <a:prstGeom prst="rect">
            <a:avLst/>
          </a:prstGeom>
          <a:solidFill>
            <a:srgbClr val="250D0C"/>
          </a:solidFill>
          <a:ln w="63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22208" y="1920240"/>
            <a:ext cx="6583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85149"/>
                </a:solidFill>
              </a:rPr>
              <a:t>SN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72016" y="1920240"/>
            <a:ext cx="658368" cy="301752"/>
          </a:xfrm>
          <a:prstGeom prst="rect">
            <a:avLst/>
          </a:prstGeom>
          <a:solidFill>
            <a:srgbClr val="250D0C"/>
          </a:solidFill>
          <a:ln w="63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72016" y="1920240"/>
            <a:ext cx="6583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85149"/>
                </a:solidFill>
              </a:rPr>
              <a:t>LP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21824" y="1920240"/>
            <a:ext cx="658368" cy="301752"/>
          </a:xfrm>
          <a:prstGeom prst="rect">
            <a:avLst/>
          </a:prstGeom>
          <a:solidFill>
            <a:srgbClr val="250D0C"/>
          </a:solidFill>
          <a:ln w="63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21824" y="1920240"/>
            <a:ext cx="6583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85149"/>
                </a:solidFill>
              </a:rPr>
              <a:t>BN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771632" y="1920240"/>
            <a:ext cx="658368" cy="301752"/>
          </a:xfrm>
          <a:prstGeom prst="rect">
            <a:avLst/>
          </a:prstGeom>
          <a:solidFill>
            <a:srgbClr val="250D0C"/>
          </a:solidFill>
          <a:ln w="63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771632" y="1920240"/>
            <a:ext cx="6583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85149"/>
                </a:solidFill>
              </a:rPr>
              <a:t>SW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2304288"/>
            <a:ext cx="658368" cy="301752"/>
          </a:xfrm>
          <a:prstGeom prst="rect">
            <a:avLst/>
          </a:prstGeom>
          <a:solidFill>
            <a:srgbClr val="250D0C"/>
          </a:solidFill>
          <a:ln w="63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0" y="2304288"/>
            <a:ext cx="6583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85149"/>
                </a:solidFill>
              </a:rPr>
              <a:t>BT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22208" y="2304288"/>
            <a:ext cx="658368" cy="301752"/>
          </a:xfrm>
          <a:prstGeom prst="rect">
            <a:avLst/>
          </a:prstGeom>
          <a:solidFill>
            <a:srgbClr val="250D0C"/>
          </a:solidFill>
          <a:ln w="63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22208" y="2304288"/>
            <a:ext cx="6583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85149"/>
                </a:solidFill>
              </a:rPr>
              <a:t>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72016" y="2304288"/>
            <a:ext cx="658368" cy="301752"/>
          </a:xfrm>
          <a:prstGeom prst="rect">
            <a:avLst/>
          </a:prstGeom>
          <a:solidFill>
            <a:srgbClr val="250D0C"/>
          </a:solidFill>
          <a:ln w="63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72016" y="2304288"/>
            <a:ext cx="6583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85149"/>
                </a:solidFill>
              </a:rPr>
              <a:t>ME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21824" y="2304288"/>
            <a:ext cx="658368" cy="301752"/>
          </a:xfrm>
          <a:prstGeom prst="rect">
            <a:avLst/>
          </a:prstGeom>
          <a:solidFill>
            <a:srgbClr val="250D0C"/>
          </a:solidFill>
          <a:ln w="63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021824" y="2304288"/>
            <a:ext cx="6583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85149"/>
                </a:solidFill>
              </a:rPr>
              <a:t>IE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771632" y="2304288"/>
            <a:ext cx="658368" cy="301752"/>
          </a:xfrm>
          <a:prstGeom prst="rect">
            <a:avLst/>
          </a:prstGeom>
          <a:solidFill>
            <a:srgbClr val="250D0C"/>
          </a:solidFill>
          <a:ln w="63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771632" y="2304288"/>
            <a:ext cx="6583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85149"/>
                </a:solidFill>
              </a:rPr>
              <a:t>MN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0" y="2688336"/>
            <a:ext cx="658368" cy="301752"/>
          </a:xfrm>
          <a:prstGeom prst="rect">
            <a:avLst/>
          </a:prstGeom>
          <a:solidFill>
            <a:srgbClr val="250D0C"/>
          </a:solidFill>
          <a:ln w="63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772400" y="2688336"/>
            <a:ext cx="6583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85149"/>
                </a:solidFill>
              </a:rPr>
              <a:t>NA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22208" y="2688336"/>
            <a:ext cx="658368" cy="301752"/>
          </a:xfrm>
          <a:prstGeom prst="rect">
            <a:avLst/>
          </a:prstGeom>
          <a:solidFill>
            <a:srgbClr val="250D0C"/>
          </a:solidFill>
          <a:ln w="63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522208" y="2688336"/>
            <a:ext cx="6583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85149"/>
                </a:solidFill>
              </a:rPr>
              <a:t>EO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72016" y="2688336"/>
            <a:ext cx="658368" cy="301752"/>
          </a:xfrm>
          <a:prstGeom prst="rect">
            <a:avLst/>
          </a:prstGeom>
          <a:solidFill>
            <a:srgbClr val="250D0C"/>
          </a:solidFill>
          <a:ln w="63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272016" y="2688336"/>
            <a:ext cx="6583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85149"/>
                </a:solidFill>
              </a:rPr>
              <a:t>BE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021824" y="2688336"/>
            <a:ext cx="658368" cy="301752"/>
          </a:xfrm>
          <a:prstGeom prst="rect">
            <a:avLst/>
          </a:prstGeom>
          <a:solidFill>
            <a:srgbClr val="250D0C"/>
          </a:solidFill>
          <a:ln w="63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021824" y="2688336"/>
            <a:ext cx="6583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85149"/>
                </a:solidFill>
              </a:rPr>
              <a:t>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771632" y="2688336"/>
            <a:ext cx="658368" cy="301752"/>
          </a:xfrm>
          <a:prstGeom prst="rect">
            <a:avLst/>
          </a:prstGeom>
          <a:solidFill>
            <a:srgbClr val="250D0C"/>
          </a:solidFill>
          <a:ln w="63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771632" y="2688336"/>
            <a:ext cx="6583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85149"/>
                </a:solidFill>
              </a:rPr>
              <a:t>MI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0" y="3072384"/>
            <a:ext cx="658368" cy="301752"/>
          </a:xfrm>
          <a:prstGeom prst="rect">
            <a:avLst/>
          </a:prstGeom>
          <a:solidFill>
            <a:srgbClr val="250D0C"/>
          </a:solidFill>
          <a:ln w="63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772400" y="3072384"/>
            <a:ext cx="6583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85149"/>
                </a:solidFill>
              </a:rPr>
              <a:t>EMU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0" y="452628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8B949E"/>
                </a:solidFill>
              </a:rPr>
              <a:t>Словарь кодов хранится в БД и может пополняться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0363D"/>
                </a:solidFill>
              </a:rPr>
              <a:t>8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2011680" cy="274320"/>
          </a:xfrm>
          <a:prstGeom prst="rect">
            <a:avLst/>
          </a:prstGeom>
          <a:solidFill>
            <a:srgbClr val="161B22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58A6FF"/>
                </a:solidFill>
              </a:rPr>
              <a:t>ОТК · АНАЛИТИКА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</a:rPr>
              <a:t>Аналитика дефектов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Фильтры: этот месяц / 3 мес / 6 мес / год / свой период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01368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01368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Фильтр по модели автомобиля и конкретной станции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93976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93976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Диаграмма: наглядно видно какие коды доминируют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86584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86584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Таблица разбивки по станциям — где больше проблем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79192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79192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Самый частый код дефекта за период — на главном экране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794760"/>
            <a:ext cx="6675120" cy="822960"/>
          </a:xfrm>
          <a:prstGeom prst="rect">
            <a:avLst/>
          </a:prstGeom>
          <a:solidFill>
            <a:srgbClr val="0E1828"/>
          </a:solidFill>
          <a:ln w="9525">
            <a:solidFill>
              <a:srgbClr val="1D4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3794760"/>
            <a:ext cx="64008" cy="822960"/>
          </a:xfrm>
          <a:prstGeom prst="rect">
            <a:avLst/>
          </a:prstGeom>
          <a:solidFill>
            <a:srgbClr val="58A6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3886200"/>
            <a:ext cx="6309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Аналитика отвечает на вопрос: где и что чаще всего ломается?
Позволяет принимать системные решения, а не тушить пожары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1417320"/>
            <a:ext cx="4114800" cy="41148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0" y="155448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949E"/>
                </a:solidFill>
              </a:rPr>
              <a:t>РАСПРЕДЕЛЕНИЕ ДЕФЕКТОВ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1965960"/>
            <a:ext cx="3749039" cy="292608"/>
          </a:xfrm>
          <a:prstGeom prst="rect">
            <a:avLst/>
          </a:prstGeom>
          <a:solidFill>
            <a:srgbClr val="20283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72400" y="1965960"/>
            <a:ext cx="1312163" cy="292608"/>
          </a:xfrm>
          <a:prstGeom prst="rect">
            <a:avLst/>
          </a:prstGeom>
          <a:solidFill>
            <a:srgbClr val="F8514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63840" y="1984248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6EDF3"/>
                </a:solidFill>
              </a:rPr>
              <a:t>CR — Трещина  35%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0" y="2468880"/>
            <a:ext cx="3749039" cy="292608"/>
          </a:xfrm>
          <a:prstGeom prst="rect">
            <a:avLst/>
          </a:prstGeom>
          <a:solidFill>
            <a:srgbClr val="20283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772400" y="2468880"/>
            <a:ext cx="749807" cy="292608"/>
          </a:xfrm>
          <a:prstGeom prst="rect">
            <a:avLst/>
          </a:prstGeom>
          <a:solidFill>
            <a:srgbClr val="E3B34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863840" y="2487168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6EDF3"/>
                </a:solidFill>
              </a:rPr>
              <a:t>SN — Малое ядро  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2971800"/>
            <a:ext cx="3749039" cy="292608"/>
          </a:xfrm>
          <a:prstGeom prst="rect">
            <a:avLst/>
          </a:prstGeom>
          <a:solidFill>
            <a:srgbClr val="20283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772400" y="2971800"/>
            <a:ext cx="637336" cy="292608"/>
          </a:xfrm>
          <a:prstGeom prst="rect">
            <a:avLst/>
          </a:prstGeom>
          <a:solidFill>
            <a:srgbClr val="58A6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863840" y="2990088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6EDF3"/>
                </a:solidFill>
              </a:rPr>
              <a:t>LP — Непровар  17%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3474720"/>
            <a:ext cx="3749039" cy="292608"/>
          </a:xfrm>
          <a:prstGeom prst="rect">
            <a:avLst/>
          </a:prstGeom>
          <a:solidFill>
            <a:srgbClr val="20283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772400" y="3474720"/>
            <a:ext cx="487375" cy="292608"/>
          </a:xfrm>
          <a:prstGeom prst="rect">
            <a:avLst/>
          </a:prstGeom>
          <a:solidFill>
            <a:srgbClr val="3FB95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863840" y="3493008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6EDF3"/>
                </a:solidFill>
              </a:rPr>
              <a:t>BN — Прожог  13%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0" y="3977640"/>
            <a:ext cx="3749039" cy="292608"/>
          </a:xfrm>
          <a:prstGeom prst="rect">
            <a:avLst/>
          </a:prstGeom>
          <a:solidFill>
            <a:srgbClr val="20283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772400" y="3977640"/>
            <a:ext cx="562355" cy="292608"/>
          </a:xfrm>
          <a:prstGeom prst="rect">
            <a:avLst/>
          </a:prstGeom>
          <a:solidFill>
            <a:srgbClr val="BC8C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863840" y="3995928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6EDF3"/>
                </a:solidFill>
              </a:rPr>
              <a:t>прочие коды...  15%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0363D"/>
                </a:solidFill>
              </a:rPr>
              <a:t>9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2011680" cy="274320"/>
          </a:xfrm>
          <a:prstGeom prst="rect">
            <a:avLst/>
          </a:prstGeom>
          <a:solidFill>
            <a:srgbClr val="161B22"/>
          </a:solidFill>
          <a:ln w="9525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BC8CFF"/>
                </a:solidFill>
              </a:rPr>
              <a:t>ИТО + ОТК · ОБЗОР ДАННЫХ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</a:rPr>
              <a:t>Полный паспорт любого объекта цеха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3657600" cy="3840480"/>
          </a:xfrm>
          <a:prstGeom prst="rect">
            <a:avLst/>
          </a:prstGeom>
          <a:solidFill>
            <a:srgbClr val="161B22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627632"/>
            <a:ext cx="3328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6EDF3"/>
                </a:solidFill>
              </a:rPr>
              <a:t>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975104"/>
            <a:ext cx="3328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По пистолету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295144"/>
            <a:ext cx="3328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Паспорт: номер, тип, бренд, станция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542032"/>
            <a:ext cx="3328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Активные уставки по каждой точке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788920"/>
            <a:ext cx="3328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Архив уставок с комментариями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035808"/>
            <a:ext cx="3328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История всех ТО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282696"/>
            <a:ext cx="3328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Список точек которые он варит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529584"/>
            <a:ext cx="3328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Все дефекты пистолета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463040"/>
            <a:ext cx="3657600" cy="3840480"/>
          </a:xfrm>
          <a:prstGeom prst="rect">
            <a:avLst/>
          </a:prstGeom>
          <a:solidFill>
            <a:srgbClr val="161B22"/>
          </a:solidFill>
          <a:ln w="9525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45152" y="1627632"/>
            <a:ext cx="3328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6EDF3"/>
                </a:solidFill>
              </a:rPr>
              <a:t>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1975104"/>
            <a:ext cx="3328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3B341"/>
                </a:solidFill>
              </a:rPr>
              <a:t>По станции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2295144"/>
            <a:ext cx="3328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Все пистолеты с нумерацией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2542032"/>
            <a:ext cx="3328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Производимые модели и кол-во точек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2" y="2788920"/>
            <a:ext cx="3328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Сводка дефектов по кодам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3035808"/>
            <a:ext cx="3328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Последние ТО на станции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03920" y="1463040"/>
            <a:ext cx="3657600" cy="3840480"/>
          </a:xfrm>
          <a:prstGeom prst="rect">
            <a:avLst/>
          </a:prstGeom>
          <a:solidFill>
            <a:srgbClr val="161B22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68512" y="1627632"/>
            <a:ext cx="3328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6EDF3"/>
                </a:solidFill>
              </a:rPr>
              <a:t>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68512" y="1975104"/>
            <a:ext cx="3328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B950"/>
                </a:solidFill>
              </a:rPr>
              <a:t>По точке сварки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68512" y="2295144"/>
            <a:ext cx="3328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Активный пистолет и уставка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68512" y="2542032"/>
            <a:ext cx="3328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История: когда какой пистолет варил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68512" y="2788920"/>
            <a:ext cx="3328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Все дефекты на этой точке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68512" y="3035808"/>
            <a:ext cx="3328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Последние ТО пистолета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440680"/>
            <a:ext cx="11274552" cy="777240"/>
          </a:xfrm>
          <a:prstGeom prst="rect">
            <a:avLst/>
          </a:prstGeom>
          <a:solidFill>
            <a:srgbClr val="0E1828"/>
          </a:solidFill>
          <a:ln w="9525">
            <a:solidFill>
              <a:srgbClr val="1D4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5440680"/>
            <a:ext cx="64008" cy="777240"/>
          </a:xfrm>
          <a:prstGeom prst="rect">
            <a:avLst/>
          </a:prstGeom>
          <a:solidFill>
            <a:srgbClr val="58A6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5800" y="55321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6EDF3"/>
                </a:solidFill>
              </a:rPr>
              <a:t>Ключевое преимущество: любой инженер за 10 секунд получает полную картину по любому элементу цеха — не нужно искать в Excel, звонить коллегам или поднимать бумажные журналы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0363D"/>
                </a:solidFill>
              </a:rPr>
              <a:t>10 /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0" y="1371600"/>
            <a:ext cx="5788152" cy="4114800"/>
          </a:xfrm>
          <a:prstGeom prst="rect">
            <a:avLst/>
          </a:prstGeom>
          <a:solidFill>
            <a:srgbClr val="0D152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722876" y="10972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 i="0">
                <a:solidFill>
                  <a:srgbClr val="E6EDF3"/>
                </a:solidFill>
              </a:rPr>
              <a:t>🚀</a:t>
            </a:r>
          </a:p>
        </p:txBody>
      </p:sp>
      <p:sp>
        <p:nvSpPr>
          <p:cNvPr id="4" name="Rectangle 3"/>
          <p:cNvSpPr/>
          <p:nvPr/>
        </p:nvSpPr>
        <p:spPr>
          <a:xfrm>
            <a:off x="4951476" y="2148840"/>
            <a:ext cx="2011680" cy="274320"/>
          </a:xfrm>
          <a:prstGeom prst="rect">
            <a:avLst/>
          </a:prstGeom>
          <a:solidFill>
            <a:srgbClr val="161B22"/>
          </a:solidFill>
          <a:ln w="9525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BC8CFF"/>
                </a:solidFill>
              </a:rPr>
              <a:t>ДАЛЬНЕЙШЕЕ РАЗВИТИЕ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E6EDF3"/>
                </a:solidFill>
              </a:rPr>
              <a:t>Что планируется дальше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11880"/>
            <a:ext cx="94457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8B949E"/>
                </a:solidFill>
              </a:rPr>
              <a:t>Фундамент заложен — теперь надстраиваем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0363D"/>
                </a:solidFill>
              </a:rPr>
              <a:t>11 / 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20040"/>
            <a:ext cx="2011680" cy="274320"/>
          </a:xfrm>
          <a:prstGeom prst="rect">
            <a:avLst/>
          </a:prstGeom>
          <a:solidFill>
            <a:srgbClr val="161B22"/>
          </a:solidFill>
          <a:ln w="9525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E3B341"/>
                </a:solidFill>
              </a:rPr>
              <a:t>ИТО · СЛЕДУЮЩИЙ БОЛЬШОЙ ШАГ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745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6EDF3"/>
                </a:solidFill>
              </a:rPr>
              <a:t>Weld Balance → А-лист: один источник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85149"/>
                </a:solidFill>
              </a:rPr>
              <a:t>КАК СЕЙЧАС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19072"/>
            <a:ext cx="5394960" cy="27432"/>
          </a:xfrm>
          <a:prstGeom prst="rect">
            <a:avLst/>
          </a:prstGeom>
          <a:solidFill>
            <a:srgbClr val="F8514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0" y="14173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FB950"/>
                </a:solidFill>
              </a:rPr>
              <a:t>КАК БУДЕТ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719072"/>
            <a:ext cx="5394960" cy="27432"/>
          </a:xfrm>
          <a:prstGeom prst="rect">
            <a:avLst/>
          </a:prstGeom>
          <a:solidFill>
            <a:srgbClr val="3FB95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89320" y="1371600"/>
            <a:ext cx="36576" cy="4846320"/>
          </a:xfrm>
          <a:prstGeom prst="rect">
            <a:avLst/>
          </a:prstGeom>
          <a:solidFill>
            <a:srgbClr val="30363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874519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74519"/>
            <a:ext cx="5394960" cy="347472"/>
          </a:xfrm>
          <a:prstGeom prst="rect">
            <a:avLst/>
          </a:prstGeom>
          <a:solidFill>
            <a:srgbClr val="1E0D0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92023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5149"/>
                </a:solidFill>
              </a:rPr>
              <a:t>Weld Balance заполняется в Excel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31719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31719"/>
            <a:ext cx="5394960" cy="347472"/>
          </a:xfrm>
          <a:prstGeom prst="rect">
            <a:avLst/>
          </a:prstGeom>
          <a:solidFill>
            <a:srgbClr val="1E0D0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237743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5149"/>
                </a:solidFill>
              </a:rPr>
              <a:t>А-лист заполняется ОТДЕЛЬНО — та же работа дважды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788919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✏️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788919"/>
            <a:ext cx="5394960" cy="347472"/>
          </a:xfrm>
          <a:prstGeom prst="rect">
            <a:avLst/>
          </a:prstGeom>
          <a:solidFill>
            <a:srgbClr val="1E0D0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283463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5149"/>
                </a:solidFill>
              </a:rPr>
              <a:t>Изменение WB → нужно вручную обновить А-лист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246119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246119"/>
            <a:ext cx="5394960" cy="347472"/>
          </a:xfrm>
          <a:prstGeom prst="rect">
            <a:avLst/>
          </a:prstGeom>
          <a:solidFill>
            <a:srgbClr val="1E0D0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329183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5149"/>
                </a:solidFill>
              </a:rPr>
              <a:t>На станциях могут лежать устаревшие А-листы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703319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📞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703319"/>
            <a:ext cx="5394960" cy="347472"/>
          </a:xfrm>
          <a:prstGeom prst="rect">
            <a:avLst/>
          </a:prstGeom>
          <a:solidFill>
            <a:srgbClr val="1E0D0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3749039"/>
            <a:ext cx="49377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F85149"/>
                </a:solidFill>
              </a:rPr>
              <a:t>ОТК </a:t>
            </a:r>
            <a:r>
              <a:rPr lang="ru-RU" sz="1100" b="0" i="0" dirty="0">
                <a:solidFill>
                  <a:srgbClr val="F85149"/>
                </a:solidFill>
              </a:rPr>
              <a:t>,</a:t>
            </a:r>
            <a:r>
              <a:rPr sz="1100" b="0" i="0" dirty="0">
                <a:solidFill>
                  <a:srgbClr val="F85149"/>
                </a:solidFill>
              </a:rPr>
              <a:t> </a:t>
            </a:r>
            <a:r>
              <a:rPr sz="1100" b="0" i="0" dirty="0" err="1">
                <a:solidFill>
                  <a:srgbClr val="F85149"/>
                </a:solidFill>
              </a:rPr>
              <a:t>производство</a:t>
            </a:r>
            <a:r>
              <a:rPr lang="ru-RU" sz="1100" b="0" i="0" dirty="0">
                <a:solidFill>
                  <a:srgbClr val="F85149"/>
                </a:solidFill>
              </a:rPr>
              <a:t>, </a:t>
            </a:r>
            <a:r>
              <a:rPr lang="en-US" sz="1100" b="0" i="0" dirty="0" err="1">
                <a:solidFill>
                  <a:srgbClr val="F85149"/>
                </a:solidFill>
              </a:rPr>
              <a:t>WeldTeam</a:t>
            </a:r>
            <a:r>
              <a:rPr lang="en-US" sz="1100" dirty="0">
                <a:solidFill>
                  <a:srgbClr val="F85149"/>
                </a:solidFill>
              </a:rPr>
              <a:t> </a:t>
            </a:r>
            <a:r>
              <a:rPr lang="ru-RU" sz="1100" dirty="0">
                <a:solidFill>
                  <a:srgbClr val="F85149"/>
                </a:solidFill>
              </a:rPr>
              <a:t>вынуждены менять рабочие документы</a:t>
            </a:r>
            <a:endParaRPr sz="1100" b="0" i="0" dirty="0">
              <a:solidFill>
                <a:srgbClr val="F85149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400800" y="1874519"/>
            <a:ext cx="5394960" cy="347472"/>
          </a:xfrm>
          <a:prstGeom prst="rect">
            <a:avLst/>
          </a:prstGeom>
          <a:solidFill>
            <a:srgbClr val="0D1E1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0" y="1874519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🗄️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1920239"/>
            <a:ext cx="49377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3FB950"/>
                </a:solidFill>
              </a:rPr>
              <a:t>Weld Balance </a:t>
            </a:r>
            <a:r>
              <a:rPr sz="1100" b="0" i="0" dirty="0" err="1">
                <a:solidFill>
                  <a:srgbClr val="3FB950"/>
                </a:solidFill>
              </a:rPr>
              <a:t>ведётся</a:t>
            </a:r>
            <a:r>
              <a:rPr sz="1100" b="0" i="0" dirty="0">
                <a:solidFill>
                  <a:srgbClr val="3FB950"/>
                </a:solidFill>
              </a:rPr>
              <a:t> в </a:t>
            </a:r>
            <a:r>
              <a:rPr lang="en-US" sz="1100" dirty="0" err="1">
                <a:solidFill>
                  <a:srgbClr val="3FB950"/>
                </a:solidFill>
              </a:rPr>
              <a:t>BodyShop</a:t>
            </a:r>
            <a:r>
              <a:rPr lang="en-US" sz="1100" dirty="0">
                <a:solidFill>
                  <a:srgbClr val="3FB950"/>
                </a:solidFill>
              </a:rPr>
              <a:t> MES</a:t>
            </a:r>
            <a:r>
              <a:rPr sz="1100" b="0" i="0" dirty="0">
                <a:solidFill>
                  <a:srgbClr val="3FB950"/>
                </a:solidFill>
              </a:rPr>
              <a:t> — </a:t>
            </a:r>
            <a:r>
              <a:rPr sz="1100" b="0" i="0" dirty="0" err="1">
                <a:solidFill>
                  <a:srgbClr val="3FB950"/>
                </a:solidFill>
              </a:rPr>
              <a:t>один</a:t>
            </a:r>
            <a:r>
              <a:rPr sz="1100" b="0" i="0" dirty="0">
                <a:solidFill>
                  <a:srgbClr val="3FB950"/>
                </a:solidFill>
              </a:rPr>
              <a:t> </a:t>
            </a:r>
            <a:r>
              <a:rPr sz="1100" b="0" i="0" dirty="0" err="1">
                <a:solidFill>
                  <a:srgbClr val="3FB950"/>
                </a:solidFill>
              </a:rPr>
              <a:t>раз</a:t>
            </a:r>
            <a:endParaRPr sz="1100" b="0" i="0" dirty="0">
              <a:solidFill>
                <a:srgbClr val="3FB950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400800" y="2331719"/>
            <a:ext cx="5394960" cy="347472"/>
          </a:xfrm>
          <a:prstGeom prst="rect">
            <a:avLst/>
          </a:prstGeom>
          <a:solidFill>
            <a:srgbClr val="0D1E1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2331719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237743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FB950"/>
                </a:solidFill>
              </a:rPr>
              <a:t>А-лист генерируется АВТОМАТИЧЕСКИ из БД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2788919"/>
            <a:ext cx="5394960" cy="347472"/>
          </a:xfrm>
          <a:prstGeom prst="rect">
            <a:avLst/>
          </a:prstGeom>
          <a:solidFill>
            <a:srgbClr val="0D1E1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0" y="2788919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283463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FB950"/>
                </a:solidFill>
              </a:rPr>
              <a:t>Изменение WB → А-лист обновляется автоматически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246119"/>
            <a:ext cx="5394960" cy="347472"/>
          </a:xfrm>
          <a:prstGeom prst="rect">
            <a:avLst/>
          </a:prstGeom>
          <a:solidFill>
            <a:srgbClr val="0D1E1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0" y="3246119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329183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FB950"/>
                </a:solidFill>
              </a:rPr>
              <a:t>Авторассылка уведомлений всем отделам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3703319"/>
            <a:ext cx="5394960" cy="347472"/>
          </a:xfrm>
          <a:prstGeom prst="rect">
            <a:avLst/>
          </a:prstGeom>
          <a:solidFill>
            <a:srgbClr val="0D1E1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0" y="3703319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🖨️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374903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FB950"/>
                </a:solidFill>
              </a:rPr>
              <a:t>Печать нового А-листа — одна кнопка, работник относит на станцию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343400"/>
            <a:ext cx="11274552" cy="685800"/>
          </a:xfrm>
          <a:prstGeom prst="rect">
            <a:avLst/>
          </a:prstGeom>
          <a:solidFill>
            <a:srgbClr val="1A1605"/>
          </a:solidFill>
          <a:ln w="9525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85800" y="4434840"/>
            <a:ext cx="1088136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E6EDF3"/>
                </a:solidFill>
              </a:rPr>
              <a:t>А-</a:t>
            </a:r>
            <a:r>
              <a:rPr sz="1150" b="0" i="0" dirty="0" err="1">
                <a:solidFill>
                  <a:srgbClr val="E6EDF3"/>
                </a:solidFill>
              </a:rPr>
              <a:t>лист</a:t>
            </a:r>
            <a:r>
              <a:rPr sz="1150" b="0" i="0" dirty="0">
                <a:solidFill>
                  <a:srgbClr val="E6EDF3"/>
                </a:solidFill>
              </a:rPr>
              <a:t> — </a:t>
            </a:r>
            <a:r>
              <a:rPr sz="1150" b="0" i="0" dirty="0" err="1">
                <a:solidFill>
                  <a:srgbClr val="E6EDF3"/>
                </a:solidFill>
              </a:rPr>
              <a:t>опорный</a:t>
            </a:r>
            <a:r>
              <a:rPr sz="1150" b="0" i="0" dirty="0">
                <a:solidFill>
                  <a:srgbClr val="E6EDF3"/>
                </a:solidFill>
              </a:rPr>
              <a:t> </a:t>
            </a:r>
            <a:r>
              <a:rPr sz="1150" b="0" i="0" dirty="0" err="1">
                <a:solidFill>
                  <a:srgbClr val="E6EDF3"/>
                </a:solidFill>
              </a:rPr>
              <a:t>документ</a:t>
            </a:r>
            <a:r>
              <a:rPr sz="1150" b="0" i="0" dirty="0">
                <a:solidFill>
                  <a:srgbClr val="E6EDF3"/>
                </a:solidFill>
              </a:rPr>
              <a:t> </a:t>
            </a:r>
            <a:r>
              <a:rPr sz="1150" b="0" i="0" dirty="0" err="1">
                <a:solidFill>
                  <a:srgbClr val="E6EDF3"/>
                </a:solidFill>
              </a:rPr>
              <a:t>всего</a:t>
            </a:r>
            <a:r>
              <a:rPr sz="1150" b="0" i="0" dirty="0">
                <a:solidFill>
                  <a:srgbClr val="E6EDF3"/>
                </a:solidFill>
              </a:rPr>
              <a:t> </a:t>
            </a:r>
            <a:r>
              <a:rPr sz="1150" b="0" i="0" dirty="0" err="1">
                <a:solidFill>
                  <a:srgbClr val="E6EDF3"/>
                </a:solidFill>
              </a:rPr>
              <a:t>техпроцесса</a:t>
            </a:r>
            <a:r>
              <a:rPr sz="1150" b="0" i="0" dirty="0">
                <a:solidFill>
                  <a:srgbClr val="E6EDF3"/>
                </a:solidFill>
              </a:rPr>
              <a:t>. </a:t>
            </a:r>
            <a:r>
              <a:rPr sz="1150" b="0" i="0" dirty="0" err="1">
                <a:solidFill>
                  <a:srgbClr val="E6EDF3"/>
                </a:solidFill>
              </a:rPr>
              <a:t>Его</a:t>
            </a:r>
            <a:r>
              <a:rPr sz="1150" b="0" i="0" dirty="0">
                <a:solidFill>
                  <a:srgbClr val="E6EDF3"/>
                </a:solidFill>
              </a:rPr>
              <a:t> </a:t>
            </a:r>
            <a:r>
              <a:rPr sz="1150" b="0" i="0" dirty="0" err="1">
                <a:solidFill>
                  <a:srgbClr val="E6EDF3"/>
                </a:solidFill>
              </a:rPr>
              <a:t>используют</a:t>
            </a:r>
            <a:r>
              <a:rPr sz="1150" b="0" i="0" dirty="0">
                <a:solidFill>
                  <a:srgbClr val="E6EDF3"/>
                </a:solidFill>
              </a:rPr>
              <a:t> ИТО, ОТК и </a:t>
            </a:r>
            <a:r>
              <a:rPr sz="1150" b="0" i="0" dirty="0" err="1">
                <a:solidFill>
                  <a:srgbClr val="E6EDF3"/>
                </a:solidFill>
              </a:rPr>
              <a:t>производство</a:t>
            </a:r>
            <a:r>
              <a:rPr sz="1150" b="0" i="0" dirty="0">
                <a:solidFill>
                  <a:srgbClr val="E6EDF3"/>
                </a:solidFill>
              </a:rPr>
              <a:t>. </a:t>
            </a:r>
            <a:r>
              <a:rPr sz="1150" b="0" i="0" dirty="0" err="1">
                <a:solidFill>
                  <a:srgbClr val="E6EDF3"/>
                </a:solidFill>
              </a:rPr>
              <a:t>Автогенерация</a:t>
            </a:r>
            <a:r>
              <a:rPr sz="1150" b="0" i="0" dirty="0">
                <a:solidFill>
                  <a:srgbClr val="E6EDF3"/>
                </a:solidFill>
              </a:rPr>
              <a:t> </a:t>
            </a:r>
            <a:r>
              <a:rPr sz="1150" b="0" i="0" dirty="0" err="1">
                <a:solidFill>
                  <a:srgbClr val="E6EDF3"/>
                </a:solidFill>
              </a:rPr>
              <a:t>из</a:t>
            </a:r>
            <a:r>
              <a:rPr sz="1150" b="0" i="0" dirty="0">
                <a:solidFill>
                  <a:srgbClr val="E6EDF3"/>
                </a:solidFill>
              </a:rPr>
              <a:t> </a:t>
            </a:r>
            <a:r>
              <a:rPr lang="en-US" sz="1150" b="0" i="0" dirty="0" err="1">
                <a:solidFill>
                  <a:srgbClr val="E6EDF3"/>
                </a:solidFill>
              </a:rPr>
              <a:t>BodyShop</a:t>
            </a:r>
            <a:r>
              <a:rPr lang="en-US" sz="1150" b="0" i="0" dirty="0">
                <a:solidFill>
                  <a:srgbClr val="E6EDF3"/>
                </a:solidFill>
              </a:rPr>
              <a:t> MES</a:t>
            </a:r>
            <a:r>
              <a:rPr sz="1150" b="0" i="0" dirty="0">
                <a:solidFill>
                  <a:srgbClr val="E6EDF3"/>
                </a:solidFill>
              </a:rPr>
              <a:t> </a:t>
            </a:r>
            <a:r>
              <a:rPr sz="1150" b="0" i="0" dirty="0" err="1">
                <a:solidFill>
                  <a:srgbClr val="E6EDF3"/>
                </a:solidFill>
              </a:rPr>
              <a:t>гарантирует</a:t>
            </a:r>
            <a:r>
              <a:rPr sz="1150" b="0" i="0" dirty="0">
                <a:solidFill>
                  <a:srgbClr val="E6EDF3"/>
                </a:solidFill>
              </a:rPr>
              <a:t>, </a:t>
            </a:r>
            <a:r>
              <a:rPr sz="1150" b="0" i="0" dirty="0" err="1">
                <a:solidFill>
                  <a:srgbClr val="E6EDF3"/>
                </a:solidFill>
              </a:rPr>
              <a:t>что</a:t>
            </a:r>
            <a:r>
              <a:rPr sz="1150" b="0" i="0" dirty="0">
                <a:solidFill>
                  <a:srgbClr val="E6EDF3"/>
                </a:solidFill>
              </a:rPr>
              <a:t> </a:t>
            </a:r>
            <a:r>
              <a:rPr sz="1150" b="0" i="0" dirty="0" err="1">
                <a:solidFill>
                  <a:srgbClr val="E6EDF3"/>
                </a:solidFill>
              </a:rPr>
              <a:t>на</a:t>
            </a:r>
            <a:r>
              <a:rPr sz="1150" b="0" i="0" dirty="0">
                <a:solidFill>
                  <a:srgbClr val="E6EDF3"/>
                </a:solidFill>
              </a:rPr>
              <a:t> </a:t>
            </a:r>
            <a:r>
              <a:rPr sz="1150" b="0" i="0" dirty="0" err="1">
                <a:solidFill>
                  <a:srgbClr val="E6EDF3"/>
                </a:solidFill>
              </a:rPr>
              <a:t>станциях</a:t>
            </a:r>
            <a:r>
              <a:rPr sz="1150" b="0" i="0" dirty="0">
                <a:solidFill>
                  <a:srgbClr val="E6EDF3"/>
                </a:solidFill>
              </a:rPr>
              <a:t> ВСЕГДА </a:t>
            </a:r>
            <a:r>
              <a:rPr sz="1150" b="0" i="0" dirty="0" err="1">
                <a:solidFill>
                  <a:srgbClr val="E6EDF3"/>
                </a:solidFill>
              </a:rPr>
              <a:t>лежит</a:t>
            </a:r>
            <a:r>
              <a:rPr sz="1150" b="0" i="0" dirty="0">
                <a:solidFill>
                  <a:srgbClr val="E6EDF3"/>
                </a:solidFill>
              </a:rPr>
              <a:t> </a:t>
            </a:r>
            <a:r>
              <a:rPr sz="1150" b="0" i="0" dirty="0" err="1">
                <a:solidFill>
                  <a:srgbClr val="E6EDF3"/>
                </a:solidFill>
              </a:rPr>
              <a:t>актуальная</a:t>
            </a:r>
            <a:r>
              <a:rPr sz="1150" b="0" i="0" dirty="0">
                <a:solidFill>
                  <a:srgbClr val="E6EDF3"/>
                </a:solidFill>
              </a:rPr>
              <a:t> </a:t>
            </a:r>
            <a:r>
              <a:rPr sz="1150" b="0" i="0" dirty="0" err="1">
                <a:solidFill>
                  <a:srgbClr val="E6EDF3"/>
                </a:solidFill>
              </a:rPr>
              <a:t>документация</a:t>
            </a:r>
            <a:r>
              <a:rPr lang="ru-RU" sz="1150" dirty="0">
                <a:solidFill>
                  <a:srgbClr val="E6EDF3"/>
                </a:solidFill>
              </a:rPr>
              <a:t>, А так же рабочие документы трёх отделов являются всегда актуальными.</a:t>
            </a:r>
            <a:endParaRPr sz="1150" b="0" i="0" dirty="0">
              <a:solidFill>
                <a:srgbClr val="E6EDF3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0363D"/>
                </a:solidFill>
              </a:rPr>
              <a:t>12 / 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20040"/>
            <a:ext cx="2011680" cy="274320"/>
          </a:xfrm>
          <a:prstGeom prst="rect">
            <a:avLst/>
          </a:prstGeom>
          <a:solidFill>
            <a:srgbClr val="161B22"/>
          </a:solidFill>
          <a:ln w="9525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BC8CFF"/>
                </a:solidFill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6EDF3"/>
                </a:solidFill>
              </a:rPr>
              <a:t>Три фазы развития системы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657600" cy="438912"/>
          </a:xfrm>
          <a:prstGeom prst="rect">
            <a:avLst/>
          </a:prstGeom>
          <a:solidFill>
            <a:srgbClr val="0E1828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408176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8A6FF"/>
                </a:solidFill>
              </a:rPr>
              <a:t>ФАЗА 1  </a:t>
            </a:r>
            <a:r>
              <a:rPr sz="1300" b="1">
                <a:solidFill>
                  <a:srgbClr val="E6EDF3"/>
                </a:solidFill>
              </a:rPr>
              <a:t>ИТО — Weld Balance → А-лист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83664"/>
            <a:ext cx="3657600" cy="402336"/>
          </a:xfrm>
          <a:prstGeom prst="rect">
            <a:avLst/>
          </a:prstGeom>
          <a:solidFill>
            <a:srgbClr val="161B22"/>
          </a:solidFill>
          <a:ln w="508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901952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4767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6EDF3"/>
                </a:solidFill>
              </a:rPr>
              <a:t>Цифровое ведение Weld Balance в системе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40864"/>
            <a:ext cx="3657600" cy="402336"/>
          </a:xfrm>
          <a:prstGeom prst="rect">
            <a:avLst/>
          </a:prstGeom>
          <a:solidFill>
            <a:srgbClr val="161B22"/>
          </a:solidFill>
          <a:ln w="508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2359152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40487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6EDF3"/>
                </a:solidFill>
              </a:rPr>
              <a:t>Автогенерация А-листа из данных БД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98064"/>
            <a:ext cx="3657600" cy="402336"/>
          </a:xfrm>
          <a:prstGeom prst="rect">
            <a:avLst/>
          </a:prstGeom>
          <a:solidFill>
            <a:srgbClr val="161B22"/>
          </a:solidFill>
          <a:ln w="508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2816352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86207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6EDF3"/>
                </a:solidFill>
              </a:rPr>
              <a:t>Управление изменениями: версионирование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55264"/>
            <a:ext cx="3657600" cy="402336"/>
          </a:xfrm>
          <a:prstGeom prst="rect">
            <a:avLst/>
          </a:prstGeom>
          <a:solidFill>
            <a:srgbClr val="161B22"/>
          </a:solidFill>
          <a:ln w="508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" y="3273552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331927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6EDF3"/>
                </a:solidFill>
              </a:rPr>
              <a:t>Авторассылка уведомлений при изменениях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12464"/>
            <a:ext cx="3657600" cy="402336"/>
          </a:xfrm>
          <a:prstGeom prst="rect">
            <a:avLst/>
          </a:prstGeom>
          <a:solidFill>
            <a:srgbClr val="161B22"/>
          </a:solidFill>
          <a:ln w="508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6928" y="3730752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🖨️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377647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6EDF3"/>
                </a:solidFill>
              </a:rPr>
              <a:t>Печать А-листа одной кнопкой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70248" y="1371600"/>
            <a:ext cx="3657600" cy="438912"/>
          </a:xfrm>
          <a:prstGeom prst="rect">
            <a:avLst/>
          </a:prstGeom>
          <a:solidFill>
            <a:srgbClr val="281E0A"/>
          </a:solidFill>
          <a:ln w="9525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07408" y="1408176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3B341"/>
                </a:solidFill>
              </a:rPr>
              <a:t>ФАЗА 2  </a:t>
            </a:r>
            <a:r>
              <a:rPr sz="1300" b="1">
                <a:solidFill>
                  <a:srgbClr val="E6EDF3"/>
                </a:solidFill>
              </a:rPr>
              <a:t>ОТК — Ежедневные проверки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1883664"/>
            <a:ext cx="3657600" cy="402336"/>
          </a:xfrm>
          <a:prstGeom prst="rect">
            <a:avLst/>
          </a:prstGeom>
          <a:solidFill>
            <a:srgbClr val="161B22"/>
          </a:solidFill>
          <a:ln w="508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79976" y="1901952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194767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6EDF3"/>
                </a:solidFill>
              </a:rPr>
              <a:t>Технические карты ежедневных проверок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70248" y="2340864"/>
            <a:ext cx="3657600" cy="402336"/>
          </a:xfrm>
          <a:prstGeom prst="rect">
            <a:avLst/>
          </a:prstGeom>
          <a:solidFill>
            <a:srgbClr val="161B22"/>
          </a:solidFill>
          <a:ln w="508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79976" y="2359152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240487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6EDF3"/>
                </a:solidFill>
              </a:rPr>
              <a:t>Ежедневный план для каждого работника ОТК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2798064"/>
            <a:ext cx="3657600" cy="402336"/>
          </a:xfrm>
          <a:prstGeom prst="rect">
            <a:avLst/>
          </a:prstGeom>
          <a:solidFill>
            <a:srgbClr val="161B22"/>
          </a:solidFill>
          <a:ln w="508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79976" y="2816352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60" y="2862072"/>
            <a:ext cx="31089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 err="1">
                <a:solidFill>
                  <a:srgbClr val="E6EDF3"/>
                </a:solidFill>
              </a:rPr>
              <a:t>Отметка</a:t>
            </a:r>
            <a:r>
              <a:rPr sz="1050" b="0" i="0" dirty="0">
                <a:solidFill>
                  <a:srgbClr val="E6EDF3"/>
                </a:solidFill>
              </a:rPr>
              <a:t> </a:t>
            </a:r>
            <a:r>
              <a:rPr sz="1050" b="0" i="0" dirty="0" err="1">
                <a:solidFill>
                  <a:srgbClr val="E6EDF3"/>
                </a:solidFill>
              </a:rPr>
              <a:t>выполненных</a:t>
            </a:r>
            <a:r>
              <a:rPr sz="1050" b="0" i="0" dirty="0">
                <a:solidFill>
                  <a:srgbClr val="E6EDF3"/>
                </a:solidFill>
              </a:rPr>
              <a:t> </a:t>
            </a:r>
            <a:r>
              <a:rPr sz="1050" b="0" i="0" dirty="0" err="1">
                <a:solidFill>
                  <a:srgbClr val="E6EDF3"/>
                </a:solidFill>
              </a:rPr>
              <a:t>точек</a:t>
            </a:r>
            <a:r>
              <a:rPr sz="1050" b="0" i="0" dirty="0">
                <a:solidFill>
                  <a:srgbClr val="E6EDF3"/>
                </a:solidFill>
              </a:rPr>
              <a:t> </a:t>
            </a:r>
            <a:r>
              <a:rPr sz="1050" b="0" i="0" dirty="0" err="1">
                <a:solidFill>
                  <a:srgbClr val="E6EDF3"/>
                </a:solidFill>
              </a:rPr>
              <a:t>прямо</a:t>
            </a:r>
            <a:r>
              <a:rPr sz="1050" b="0" i="0" dirty="0">
                <a:solidFill>
                  <a:srgbClr val="E6EDF3"/>
                </a:solidFill>
              </a:rPr>
              <a:t> </a:t>
            </a:r>
            <a:r>
              <a:rPr lang="ru-RU" sz="1050" dirty="0">
                <a:solidFill>
                  <a:srgbClr val="E6EDF3"/>
                </a:solidFill>
              </a:rPr>
              <a:t>на линии</a:t>
            </a:r>
            <a:endParaRPr sz="1050" b="0" i="0" dirty="0">
              <a:solidFill>
                <a:srgbClr val="E6EDF3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270248" y="3255264"/>
            <a:ext cx="3657600" cy="402336"/>
          </a:xfrm>
          <a:prstGeom prst="rect">
            <a:avLst/>
          </a:prstGeom>
          <a:solidFill>
            <a:srgbClr val="161B22"/>
          </a:solidFill>
          <a:ln w="508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379976" y="3273552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9160" y="331927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6EDF3"/>
                </a:solidFill>
              </a:rPr>
              <a:t>Аналитика выполнения плана проверок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0248" y="3712464"/>
            <a:ext cx="3657600" cy="402336"/>
          </a:xfrm>
          <a:prstGeom prst="rect">
            <a:avLst/>
          </a:prstGeom>
          <a:solidFill>
            <a:srgbClr val="161B22"/>
          </a:solidFill>
          <a:ln w="508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379976" y="3730752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9160" y="3776472"/>
            <a:ext cx="31089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050" b="0" i="0" dirty="0">
                <a:solidFill>
                  <a:srgbClr val="E6EDF3"/>
                </a:solidFill>
              </a:rPr>
              <a:t>Привязка </a:t>
            </a:r>
            <a:r>
              <a:rPr sz="1050" b="0" i="0" dirty="0" err="1">
                <a:solidFill>
                  <a:srgbClr val="E6EDF3"/>
                </a:solidFill>
              </a:rPr>
              <a:t>дефекта</a:t>
            </a:r>
            <a:r>
              <a:rPr lang="ru-RU" sz="1050" b="0" i="0" dirty="0">
                <a:solidFill>
                  <a:srgbClr val="E6EDF3"/>
                </a:solidFill>
              </a:rPr>
              <a:t>в</a:t>
            </a:r>
            <a:r>
              <a:rPr sz="1050" b="0" i="0" dirty="0">
                <a:solidFill>
                  <a:srgbClr val="E6EDF3"/>
                </a:solidFill>
              </a:rPr>
              <a:t> </a:t>
            </a:r>
            <a:r>
              <a:rPr lang="ru-RU" sz="1050" b="0" i="0" dirty="0">
                <a:solidFill>
                  <a:srgbClr val="E6EDF3"/>
                </a:solidFill>
              </a:rPr>
              <a:t>к станция </a:t>
            </a:r>
            <a:r>
              <a:rPr lang="ru-RU" sz="1050" b="0" i="0" dirty="0" err="1">
                <a:solidFill>
                  <a:srgbClr val="E6EDF3"/>
                </a:solidFill>
              </a:rPr>
              <a:t>ганам</a:t>
            </a:r>
            <a:r>
              <a:rPr lang="ru-RU" sz="1050" b="0" i="0" dirty="0">
                <a:solidFill>
                  <a:srgbClr val="E6EDF3"/>
                </a:solidFill>
              </a:rPr>
              <a:t> </a:t>
            </a:r>
            <a:r>
              <a:rPr sz="1050" b="0" i="0" dirty="0">
                <a:solidFill>
                  <a:srgbClr val="E6EDF3"/>
                </a:solidFill>
              </a:rPr>
              <a:t>в </a:t>
            </a:r>
            <a:r>
              <a:rPr sz="1050" b="0" i="0" dirty="0" err="1">
                <a:solidFill>
                  <a:srgbClr val="E6EDF3"/>
                </a:solidFill>
              </a:rPr>
              <a:t>системе</a:t>
            </a:r>
            <a:endParaRPr sz="1050" b="0" i="0" dirty="0">
              <a:solidFill>
                <a:srgbClr val="E6EDF3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8083296" y="1371600"/>
            <a:ext cx="3657600" cy="438912"/>
          </a:xfrm>
          <a:prstGeom prst="rect">
            <a:avLst/>
          </a:prstGeom>
          <a:solidFill>
            <a:srgbClr val="1A1028"/>
          </a:solidFill>
          <a:ln w="9525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20456" y="1408176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BC8CFF"/>
                </a:solidFill>
              </a:rPr>
              <a:t>ФАЗА 3  </a:t>
            </a:r>
            <a:r>
              <a:rPr sz="1300" b="1">
                <a:solidFill>
                  <a:srgbClr val="E6EDF3"/>
                </a:solidFill>
              </a:rPr>
              <a:t>Полная автоматизация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83296" y="1883664"/>
            <a:ext cx="3657600" cy="402336"/>
          </a:xfrm>
          <a:prstGeom prst="rect">
            <a:avLst/>
          </a:prstGeom>
          <a:solidFill>
            <a:srgbClr val="161B22"/>
          </a:solidFill>
          <a:ln w="508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165592" y="1901952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E6EDF3"/>
                </a:solidFill>
              </a:rPr>
              <a:t>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22208" y="194767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6EDF3"/>
                </a:solidFill>
              </a:rPr>
              <a:t>Авторизация и роли: ИТО, ОТК, Производство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93817" y="2394351"/>
            <a:ext cx="3657600" cy="402336"/>
          </a:xfrm>
          <a:prstGeom prst="rect">
            <a:avLst/>
          </a:prstGeom>
          <a:solidFill>
            <a:srgbClr val="161B22"/>
          </a:solidFill>
          <a:ln w="508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175621" y="2396022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E6EDF3"/>
                </a:solidFill>
              </a:rPr>
              <a:t>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67344" y="242886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 err="1">
                <a:solidFill>
                  <a:srgbClr val="E6EDF3"/>
                </a:solidFill>
              </a:rPr>
              <a:t>Тренды</a:t>
            </a:r>
            <a:r>
              <a:rPr sz="1050" b="0" i="0" dirty="0">
                <a:solidFill>
                  <a:srgbClr val="E6EDF3"/>
                </a:solidFill>
              </a:rPr>
              <a:t> </a:t>
            </a:r>
            <a:r>
              <a:rPr sz="1050" b="0" i="0" dirty="0" err="1">
                <a:solidFill>
                  <a:srgbClr val="E6EDF3"/>
                </a:solidFill>
              </a:rPr>
              <a:t>деградации</a:t>
            </a:r>
            <a:r>
              <a:rPr sz="1050" b="0" i="0" dirty="0">
                <a:solidFill>
                  <a:srgbClr val="E6EDF3"/>
                </a:solidFill>
              </a:rPr>
              <a:t> и </a:t>
            </a:r>
            <a:r>
              <a:rPr sz="1050" b="0" i="0" dirty="0" err="1">
                <a:solidFill>
                  <a:srgbClr val="E6EDF3"/>
                </a:solidFill>
              </a:rPr>
              <a:t>прогноз</a:t>
            </a:r>
            <a:r>
              <a:rPr sz="1050" b="0" i="0" dirty="0">
                <a:solidFill>
                  <a:srgbClr val="E6EDF3"/>
                </a:solidFill>
              </a:rPr>
              <a:t> ТО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83296" y="2862072"/>
            <a:ext cx="3657600" cy="402336"/>
          </a:xfrm>
          <a:prstGeom prst="rect">
            <a:avLst/>
          </a:prstGeom>
          <a:solidFill>
            <a:srgbClr val="161B22"/>
          </a:solidFill>
          <a:ln w="508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175621" y="2847422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E6EDF3"/>
                </a:solidFill>
              </a:rPr>
              <a:t>📤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94776" y="283675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 err="1">
                <a:solidFill>
                  <a:srgbClr val="E6EDF3"/>
                </a:solidFill>
              </a:rPr>
              <a:t>Экспорт</a:t>
            </a:r>
            <a:r>
              <a:rPr sz="1050" b="0" i="0" dirty="0">
                <a:solidFill>
                  <a:srgbClr val="E6EDF3"/>
                </a:solidFill>
              </a:rPr>
              <a:t> </a:t>
            </a:r>
            <a:r>
              <a:rPr sz="1050" b="0" i="0" dirty="0" err="1">
                <a:solidFill>
                  <a:srgbClr val="E6EDF3"/>
                </a:solidFill>
              </a:rPr>
              <a:t>отчётов</a:t>
            </a:r>
            <a:r>
              <a:rPr sz="1050" b="0" i="0" dirty="0">
                <a:solidFill>
                  <a:srgbClr val="E6EDF3"/>
                </a:solidFill>
              </a:rPr>
              <a:t> в Excel / PDF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0363D"/>
                </a:solidFill>
              </a:rPr>
              <a:t>13 / 15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37760" y="274320"/>
            <a:ext cx="2011680" cy="274320"/>
          </a:xfrm>
          <a:prstGeom prst="rect">
            <a:avLst/>
          </a:prstGeom>
          <a:solidFill>
            <a:srgbClr val="161B22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3FB950"/>
                </a:solidFill>
              </a:rPr>
              <a:t>ИТОГ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60152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E6EDF3"/>
                </a:solidFill>
              </a:rPr>
              <a:t>Самое главное — </a:t>
            </a:r>
            <a:r>
              <a:rPr sz="4000" b="1">
                <a:solidFill>
                  <a:srgbClr val="58A6FF"/>
                </a:solidFill>
              </a:rPr>
              <a:t>сделано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508760"/>
            <a:ext cx="9445752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 dirty="0" err="1">
                <a:solidFill>
                  <a:srgbClr val="8B949E"/>
                </a:solidFill>
              </a:rPr>
              <a:t>База</a:t>
            </a:r>
            <a:r>
              <a:rPr sz="1350" b="0" i="0" dirty="0">
                <a:solidFill>
                  <a:srgbClr val="8B949E"/>
                </a:solidFill>
              </a:rPr>
              <a:t> </a:t>
            </a:r>
            <a:r>
              <a:rPr sz="1350" b="0" i="0" dirty="0" err="1">
                <a:solidFill>
                  <a:srgbClr val="8B949E"/>
                </a:solidFill>
              </a:rPr>
              <a:t>данных</a:t>
            </a:r>
            <a:r>
              <a:rPr sz="1350" b="0" i="0" dirty="0">
                <a:solidFill>
                  <a:srgbClr val="8B949E"/>
                </a:solidFill>
              </a:rPr>
              <a:t> </a:t>
            </a:r>
            <a:r>
              <a:rPr sz="1350" b="0" i="0" dirty="0" err="1">
                <a:solidFill>
                  <a:srgbClr val="8B949E"/>
                </a:solidFill>
              </a:rPr>
              <a:t>заполнена</a:t>
            </a:r>
            <a:r>
              <a:rPr sz="1350" b="0" i="0" dirty="0">
                <a:solidFill>
                  <a:srgbClr val="8B949E"/>
                </a:solidFill>
              </a:rPr>
              <a:t>, </a:t>
            </a:r>
            <a:r>
              <a:rPr sz="1350" b="0" i="0" dirty="0" err="1">
                <a:solidFill>
                  <a:srgbClr val="8B949E"/>
                </a:solidFill>
              </a:rPr>
              <a:t>все</a:t>
            </a:r>
            <a:r>
              <a:rPr sz="1350" b="0" i="0" dirty="0">
                <a:solidFill>
                  <a:srgbClr val="8B949E"/>
                </a:solidFill>
              </a:rPr>
              <a:t> </a:t>
            </a:r>
            <a:r>
              <a:rPr sz="1350" b="0" i="0" dirty="0" err="1">
                <a:solidFill>
                  <a:srgbClr val="8B949E"/>
                </a:solidFill>
              </a:rPr>
              <a:t>модули</a:t>
            </a:r>
            <a:r>
              <a:rPr sz="1350" b="0" i="0" dirty="0">
                <a:solidFill>
                  <a:srgbClr val="8B949E"/>
                </a:solidFill>
              </a:rPr>
              <a:t> </a:t>
            </a:r>
            <a:r>
              <a:rPr lang="en-US" sz="1350" b="0" i="0" dirty="0" err="1">
                <a:solidFill>
                  <a:srgbClr val="8B949E"/>
                </a:solidFill>
              </a:rPr>
              <a:t>WeldTeam</a:t>
            </a:r>
            <a:r>
              <a:rPr sz="1350" b="0" i="0" dirty="0">
                <a:solidFill>
                  <a:srgbClr val="8B949E"/>
                </a:solidFill>
              </a:rPr>
              <a:t> </a:t>
            </a:r>
            <a:r>
              <a:rPr sz="1350" b="0" i="0" dirty="0" err="1">
                <a:solidFill>
                  <a:srgbClr val="8B949E"/>
                </a:solidFill>
              </a:rPr>
              <a:t>работают</a:t>
            </a:r>
            <a:r>
              <a:rPr sz="1350" b="0" i="0" dirty="0">
                <a:solidFill>
                  <a:srgbClr val="8B949E"/>
                </a:solidFill>
              </a:rPr>
              <a:t>. </a:t>
            </a:r>
            <a:r>
              <a:rPr sz="1350" b="0" i="0" dirty="0" err="1">
                <a:solidFill>
                  <a:srgbClr val="8B949E"/>
                </a:solidFill>
              </a:rPr>
              <a:t>Следующий</a:t>
            </a:r>
            <a:r>
              <a:rPr sz="1350" b="0" i="0" dirty="0">
                <a:solidFill>
                  <a:srgbClr val="8B949E"/>
                </a:solidFill>
              </a:rPr>
              <a:t> </a:t>
            </a:r>
            <a:r>
              <a:rPr sz="1350" b="0" i="0" dirty="0" err="1">
                <a:solidFill>
                  <a:srgbClr val="8B949E"/>
                </a:solidFill>
              </a:rPr>
              <a:t>шаг</a:t>
            </a:r>
            <a:r>
              <a:rPr sz="1350" b="0" i="0" dirty="0">
                <a:solidFill>
                  <a:srgbClr val="8B949E"/>
                </a:solidFill>
              </a:rPr>
              <a:t> — Weld Balance → А-</a:t>
            </a:r>
            <a:r>
              <a:rPr sz="1350" b="0" i="0" dirty="0" err="1">
                <a:solidFill>
                  <a:srgbClr val="8B949E"/>
                </a:solidFill>
              </a:rPr>
              <a:t>лист</a:t>
            </a:r>
            <a:r>
              <a:rPr sz="1350" b="0" i="0" dirty="0">
                <a:solidFill>
                  <a:srgbClr val="8B949E"/>
                </a:solidFill>
              </a:rPr>
              <a:t>, </a:t>
            </a:r>
            <a:r>
              <a:rPr sz="1350" b="0" i="0" dirty="0" err="1">
                <a:solidFill>
                  <a:srgbClr val="8B949E"/>
                </a:solidFill>
              </a:rPr>
              <a:t>затем</a:t>
            </a:r>
            <a:r>
              <a:rPr sz="1350" b="0" i="0" dirty="0">
                <a:solidFill>
                  <a:srgbClr val="8B949E"/>
                </a:solidFill>
              </a:rPr>
              <a:t> ОТК.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03120"/>
            <a:ext cx="3566160" cy="1920240"/>
          </a:xfrm>
          <a:prstGeom prst="rect">
            <a:avLst/>
          </a:prstGeom>
          <a:solidFill>
            <a:srgbClr val="161B22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223113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6EDF3"/>
                </a:solidFill>
              </a:rPr>
              <a:t>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63347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50" b="1" i="0" dirty="0">
                <a:solidFill>
                  <a:srgbClr val="3FB950"/>
                </a:solidFill>
              </a:rPr>
              <a:t>Bodyshop MES </a:t>
            </a:r>
            <a:r>
              <a:rPr lang="ru-RU" sz="1250" b="1" i="0" dirty="0">
                <a:solidFill>
                  <a:srgbClr val="3FB950"/>
                </a:solidFill>
              </a:rPr>
              <a:t>для </a:t>
            </a:r>
            <a:r>
              <a:rPr lang="en-US" sz="1250" b="1" i="0" dirty="0" err="1">
                <a:solidFill>
                  <a:srgbClr val="3FB950"/>
                </a:solidFill>
              </a:rPr>
              <a:t>WeldTeam</a:t>
            </a:r>
            <a:r>
              <a:rPr sz="1250" b="1" i="0" dirty="0">
                <a:solidFill>
                  <a:srgbClr val="3FB950"/>
                </a:solidFill>
              </a:rPr>
              <a:t> — </a:t>
            </a:r>
            <a:r>
              <a:rPr sz="1250" b="1" i="0" dirty="0" err="1">
                <a:solidFill>
                  <a:srgbClr val="3FB950"/>
                </a:solidFill>
              </a:rPr>
              <a:t>сейчас</a:t>
            </a:r>
            <a:endParaRPr sz="1250" b="1" i="0" dirty="0">
              <a:solidFill>
                <a:srgbClr val="3FB95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3232" y="2962656"/>
            <a:ext cx="32918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8B949E"/>
                </a:solidFill>
              </a:rPr>
              <a:t>ТО </a:t>
            </a:r>
            <a:r>
              <a:rPr sz="1050" b="0" i="0" dirty="0" err="1">
                <a:solidFill>
                  <a:srgbClr val="8B949E"/>
                </a:solidFill>
              </a:rPr>
              <a:t>планируется</a:t>
            </a:r>
            <a:r>
              <a:rPr sz="1050" b="0" i="0" dirty="0">
                <a:solidFill>
                  <a:srgbClr val="8B949E"/>
                </a:solidFill>
              </a:rPr>
              <a:t> и </a:t>
            </a:r>
            <a:r>
              <a:rPr sz="1050" b="0" i="0" dirty="0" err="1">
                <a:solidFill>
                  <a:srgbClr val="8B949E"/>
                </a:solidFill>
              </a:rPr>
              <a:t>фиксируется</a:t>
            </a:r>
            <a:r>
              <a:rPr sz="1050" b="0" i="0" dirty="0">
                <a:solidFill>
                  <a:srgbClr val="8B949E"/>
                </a:solidFill>
              </a:rPr>
              <a:t>. </a:t>
            </a:r>
            <a:r>
              <a:rPr sz="1050" b="0" i="0" dirty="0" err="1">
                <a:solidFill>
                  <a:srgbClr val="8B949E"/>
                </a:solidFill>
              </a:rPr>
              <a:t>Уставки</a:t>
            </a:r>
            <a:r>
              <a:rPr sz="1050" b="0" i="0" dirty="0">
                <a:solidFill>
                  <a:srgbClr val="8B949E"/>
                </a:solidFill>
              </a:rPr>
              <a:t> </a:t>
            </a:r>
            <a:r>
              <a:rPr sz="1050" b="0" i="0" dirty="0" err="1">
                <a:solidFill>
                  <a:srgbClr val="8B949E"/>
                </a:solidFill>
              </a:rPr>
              <a:t>под</a:t>
            </a:r>
            <a:r>
              <a:rPr sz="1050" b="0" i="0" dirty="0">
                <a:solidFill>
                  <a:srgbClr val="8B949E"/>
                </a:solidFill>
              </a:rPr>
              <a:t> </a:t>
            </a:r>
            <a:r>
              <a:rPr sz="1050" b="0" i="0" dirty="0" err="1">
                <a:solidFill>
                  <a:srgbClr val="8B949E"/>
                </a:solidFill>
              </a:rPr>
              <a:t>контролем</a:t>
            </a:r>
            <a:r>
              <a:rPr sz="1050" b="0" i="0" dirty="0">
                <a:solidFill>
                  <a:srgbClr val="8B949E"/>
                </a:solidFill>
              </a:rPr>
              <a:t>. </a:t>
            </a:r>
            <a:r>
              <a:rPr sz="1050" b="0" i="0" dirty="0" err="1">
                <a:solidFill>
                  <a:srgbClr val="8B949E"/>
                </a:solidFill>
              </a:rPr>
              <a:t>Данные</a:t>
            </a:r>
            <a:r>
              <a:rPr sz="1050" b="0" i="0" dirty="0">
                <a:solidFill>
                  <a:srgbClr val="8B949E"/>
                </a:solidFill>
              </a:rPr>
              <a:t> </a:t>
            </a:r>
            <a:r>
              <a:rPr sz="1050" b="0" i="0" dirty="0" err="1">
                <a:solidFill>
                  <a:srgbClr val="8B949E"/>
                </a:solidFill>
              </a:rPr>
              <a:t>по</a:t>
            </a:r>
            <a:r>
              <a:rPr sz="1050" b="0" i="0" dirty="0">
                <a:solidFill>
                  <a:srgbClr val="8B949E"/>
                </a:solidFill>
              </a:rPr>
              <a:t> </a:t>
            </a:r>
            <a:r>
              <a:rPr sz="1050" b="0" i="0" dirty="0" err="1">
                <a:solidFill>
                  <a:srgbClr val="8B949E"/>
                </a:solidFill>
              </a:rPr>
              <a:t>каждому</a:t>
            </a:r>
            <a:r>
              <a:rPr sz="1050" b="0" i="0" dirty="0">
                <a:solidFill>
                  <a:srgbClr val="8B949E"/>
                </a:solidFill>
              </a:rPr>
              <a:t> </a:t>
            </a:r>
            <a:r>
              <a:rPr sz="1050" b="0" i="0" dirty="0" err="1">
                <a:solidFill>
                  <a:srgbClr val="8B949E"/>
                </a:solidFill>
              </a:rPr>
              <a:t>пистолету</a:t>
            </a:r>
            <a:r>
              <a:rPr sz="1050" b="0" i="0" dirty="0">
                <a:solidFill>
                  <a:srgbClr val="8B949E"/>
                </a:solidFill>
              </a:rPr>
              <a:t>.</a:t>
            </a:r>
            <a:r>
              <a:rPr lang="en-US" sz="1050" b="0" i="0" dirty="0">
                <a:solidFill>
                  <a:srgbClr val="8B949E"/>
                </a:solidFill>
              </a:rPr>
              <a:t> </a:t>
            </a:r>
            <a:r>
              <a:rPr lang="ru-RU" sz="1050" b="0" i="0" dirty="0">
                <a:solidFill>
                  <a:srgbClr val="8B949E"/>
                </a:solidFill>
              </a:rPr>
              <a:t>Дефекты расследуются и записываются в карточку каждого </a:t>
            </a:r>
            <a:r>
              <a:rPr lang="ru-RU" sz="1050" b="0" i="0" dirty="0" err="1">
                <a:solidFill>
                  <a:srgbClr val="8B949E"/>
                </a:solidFill>
              </a:rPr>
              <a:t>гана</a:t>
            </a:r>
            <a:r>
              <a:rPr lang="ru-RU" sz="1050" b="0" i="0" dirty="0">
                <a:solidFill>
                  <a:srgbClr val="8B949E"/>
                </a:solidFill>
              </a:rPr>
              <a:t>.</a:t>
            </a:r>
            <a:endParaRPr sz="1050" b="0" i="0" dirty="0">
              <a:solidFill>
                <a:srgbClr val="8B949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453127" y="2103120"/>
            <a:ext cx="3566160" cy="1920240"/>
          </a:xfrm>
          <a:prstGeom prst="rect">
            <a:avLst/>
          </a:prstGeom>
          <a:solidFill>
            <a:srgbClr val="161B22"/>
          </a:solidFill>
          <a:ln w="9525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19" y="223113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6EDF3"/>
                </a:solidFill>
              </a:rPr>
              <a:t>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19" y="263347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3B341"/>
                </a:solidFill>
              </a:rPr>
              <a:t>ИТО — следующий шаг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19" y="2962656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Weld Balance в системе → А-лист автоматически → рассылка и печать при изменениях.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57614" y="2103120"/>
            <a:ext cx="3566160" cy="1920240"/>
          </a:xfrm>
          <a:prstGeom prst="rect">
            <a:avLst/>
          </a:prstGeom>
          <a:solidFill>
            <a:srgbClr val="161B22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22206" y="223113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6EDF3"/>
                </a:solidFill>
              </a:rPr>
              <a:t>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2206" y="263347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58A6FF"/>
                </a:solidFill>
              </a:rPr>
              <a:t>ОТК — после ИТО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22206" y="2962656"/>
            <a:ext cx="32918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 err="1">
                <a:solidFill>
                  <a:srgbClr val="8B949E"/>
                </a:solidFill>
              </a:rPr>
              <a:t>Ежедневные</a:t>
            </a:r>
            <a:r>
              <a:rPr sz="1050" b="0" i="0" dirty="0">
                <a:solidFill>
                  <a:srgbClr val="8B949E"/>
                </a:solidFill>
              </a:rPr>
              <a:t> </a:t>
            </a:r>
            <a:r>
              <a:rPr sz="1050" b="0" i="0" dirty="0" err="1">
                <a:solidFill>
                  <a:srgbClr val="8B949E"/>
                </a:solidFill>
              </a:rPr>
              <a:t>планы</a:t>
            </a:r>
            <a:r>
              <a:rPr sz="1050" b="0" i="0" dirty="0">
                <a:solidFill>
                  <a:srgbClr val="8B949E"/>
                </a:solidFill>
              </a:rPr>
              <a:t> </a:t>
            </a:r>
            <a:r>
              <a:rPr sz="1050" b="0" i="0" dirty="0" err="1">
                <a:solidFill>
                  <a:srgbClr val="8B949E"/>
                </a:solidFill>
              </a:rPr>
              <a:t>проверок</a:t>
            </a:r>
            <a:r>
              <a:rPr sz="1050" b="0" i="0" dirty="0">
                <a:solidFill>
                  <a:srgbClr val="8B949E"/>
                </a:solidFill>
              </a:rPr>
              <a:t> </a:t>
            </a:r>
            <a:r>
              <a:rPr sz="1050" b="0" i="0" dirty="0" err="1">
                <a:solidFill>
                  <a:srgbClr val="8B949E"/>
                </a:solidFill>
              </a:rPr>
              <a:t>на</a:t>
            </a:r>
            <a:r>
              <a:rPr sz="1050" b="0" i="0" dirty="0">
                <a:solidFill>
                  <a:srgbClr val="8B949E"/>
                </a:solidFill>
              </a:rPr>
              <a:t> </a:t>
            </a:r>
            <a:r>
              <a:rPr sz="1050" b="0" i="0" dirty="0" err="1">
                <a:solidFill>
                  <a:srgbClr val="8B949E"/>
                </a:solidFill>
              </a:rPr>
              <a:t>базе</a:t>
            </a:r>
            <a:r>
              <a:rPr sz="1050" b="0" i="0" dirty="0">
                <a:solidFill>
                  <a:srgbClr val="8B949E"/>
                </a:solidFill>
              </a:rPr>
              <a:t> А-</a:t>
            </a:r>
            <a:r>
              <a:rPr sz="1050" b="0" i="0" dirty="0" err="1">
                <a:solidFill>
                  <a:srgbClr val="8B949E"/>
                </a:solidFill>
              </a:rPr>
              <a:t>листа</a:t>
            </a:r>
            <a:r>
              <a:rPr sz="1050" b="0" i="0" dirty="0">
                <a:solidFill>
                  <a:srgbClr val="8B949E"/>
                </a:solidFill>
              </a:rPr>
              <a:t>. </a:t>
            </a:r>
            <a:r>
              <a:rPr sz="1050" b="0" i="0" dirty="0" err="1">
                <a:solidFill>
                  <a:srgbClr val="8B949E"/>
                </a:solidFill>
              </a:rPr>
              <a:t>Фиксация</a:t>
            </a:r>
            <a:r>
              <a:rPr sz="1050" b="0" i="0" dirty="0">
                <a:solidFill>
                  <a:srgbClr val="8B949E"/>
                </a:solidFill>
              </a:rPr>
              <a:t> </a:t>
            </a:r>
            <a:r>
              <a:rPr sz="1050" b="0" i="0" dirty="0" err="1">
                <a:solidFill>
                  <a:srgbClr val="8B949E"/>
                </a:solidFill>
              </a:rPr>
              <a:t>нарушений</a:t>
            </a:r>
            <a:r>
              <a:rPr sz="1050" b="0" i="0" dirty="0">
                <a:solidFill>
                  <a:srgbClr val="8B949E"/>
                </a:solidFill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06240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58A6FF"/>
                </a:solidFill>
              </a:rPr>
              <a:t>WeldTeam 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63440"/>
            <a:ext cx="10360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B949E"/>
                </a:solidFill>
              </a:rPr>
              <a:t>Цех BS · GWM ·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0363D"/>
                </a:solidFill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5142</TotalTime>
  <Words>1706</Words>
  <Application>Microsoft Office PowerPoint</Application>
  <PresentationFormat>Произвольный</PresentationFormat>
  <Paragraphs>333</Paragraphs>
  <Slides>19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4" baseType="lpstr">
      <vt:lpstr>Aptos</vt:lpstr>
      <vt:lpstr>Arial</vt:lpstr>
      <vt:lpstr>Calibri</vt:lpstr>
      <vt:lpstr>Roboto Mono</vt:lpstr>
      <vt:lpstr>Office Theme</vt:lpstr>
      <vt:lpstr>Презентация PowerPoint</vt:lpstr>
      <vt:lpstr>Проблемы</vt:lpstr>
      <vt:lpstr>Процедурные документы Weld Team</vt:lpstr>
      <vt:lpstr>Что такое MES-система? </vt:lpstr>
      <vt:lpstr>Фундаментом MES является SQL база данных. </vt:lpstr>
      <vt:lpstr>SQL против Excel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Alibek Galimov</cp:lastModifiedBy>
  <cp:revision>7</cp:revision>
  <dcterms:created xsi:type="dcterms:W3CDTF">2013-01-27T09:14:16Z</dcterms:created>
  <dcterms:modified xsi:type="dcterms:W3CDTF">2026-06-08T02:59:56Z</dcterms:modified>
  <cp:category/>
</cp:coreProperties>
</file>